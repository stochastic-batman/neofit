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Orbitron"/>
      <p:regular r:id="rId14"/>
      <p:bold r:id="rId15"/>
    </p:embeddedFont>
    <p:embeddedFont>
      <p:font typeface="Sora"/>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Orbitron-bold.fntdata"/><Relationship Id="rId14" Type="http://schemas.openxmlformats.org/officeDocument/2006/relationships/font" Target="fonts/Orbitron-regular.fntdata"/><Relationship Id="rId17" Type="http://schemas.openxmlformats.org/officeDocument/2006/relationships/font" Target="fonts/Sora-bold.fntdata"/><Relationship Id="rId16" Type="http://schemas.openxmlformats.org/officeDocument/2006/relationships/font" Target="fonts/Sora-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e0aff94d23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e0aff94d23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Hello</a:t>
            </a:r>
            <a:r>
              <a:rPr lang="en"/>
              <a:t>, I'm Lado Turmanidze - solo developer behind NeoFit, a decentralized physical training protocol built on Solana. </a:t>
            </a:r>
            <a:endParaRPr/>
          </a:p>
        </p:txBody>
      </p:sp>
      <p:sp>
        <p:nvSpPr>
          <p:cNvPr id="55" name="Google Shape;55;g3e0aff94d23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0aff94d23_2_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g3e0aff94d23_2_2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Fitness apps have a fundamental trust problem. Everything is self-reported. There is no mechanism to verify you actually did those hundred squats. Your data sits on someone else's server and disappears when the app does. And without real stakes, most people quit. Quite literally zero percent of reps logged in traditional fitness apps are independently verified. </a:t>
            </a:r>
            <a:endParaRPr/>
          </a:p>
        </p:txBody>
      </p:sp>
      <p:sp>
        <p:nvSpPr>
          <p:cNvPr id="75" name="Google Shape;75;g3e0aff94d23_2_2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0aff94d23_2_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g3e0aff94d23_2_4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NeoFit fixes this with three components. MoveNet - Google’s body pose estimation model - runs entirely in your browser, tracking 17 skeletal joints, with no video ever leaving your device. When a valid rep is detected - knee angle drops below 90 degrees - a Solana transaction fires immediately. Your workout data lives in an on-chain account that only your wallet can authorize changes to. You can join prize pool challenges where everyone who completes the requirements splits the pot!</a:t>
            </a:r>
            <a:endParaRPr/>
          </a:p>
        </p:txBody>
      </p:sp>
      <p:sp>
        <p:nvSpPr>
          <p:cNvPr id="100" name="Google Shape;100;g3e0aff94d23_2_4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e0aff94d23_2_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3e0aff94d23_2_7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flow is three steps. MoveNet tracks your joints locally at 60fps. Rep are verified, meaning the angles are computed every frame, reps are counted when the threshold is crossed. Finally, when the session ends, one Anchor instruction “log_reps” writes it all on-chain. </a:t>
            </a:r>
            <a:endParaRPr/>
          </a:p>
        </p:txBody>
      </p:sp>
      <p:sp>
        <p:nvSpPr>
          <p:cNvPr id="126" name="Google Shape;126;g3e0aff94d23_2_7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0aff94d23_2_9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e0aff94d23_2_9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 used Claude Sonnet 4.6 in three areas: generating SvelteKit frontend components after I designed the architecture, generating Rust test suites for all on-chain instructions, and debugging TypeScript and IDL issues. In every case I reviewed, corrected, and validated the output - it wasn't hands-off simply because it did not work any other way.</a:t>
            </a:r>
            <a:endParaRPr/>
          </a:p>
        </p:txBody>
      </p:sp>
      <p:sp>
        <p:nvSpPr>
          <p:cNvPr id="156" name="Google Shape;156;g3e0aff94d23_2_9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0aff94d23_2_1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e0aff94d23_2_13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 sz="950">
                <a:solidFill>
                  <a:schemeClr val="dk1"/>
                </a:solidFill>
                <a:latin typeface="Sora"/>
                <a:ea typeface="Sora"/>
                <a:cs typeface="Sora"/>
                <a:sym typeface="Sora"/>
              </a:rPr>
              <a:t>I have over 500-day streaks on multiple platforms like Leetcode, Duolingo, and Chess.com. I know this is addictive - which is good! - but there needs to be a mechanism of verification. I wanted to build a similar system for working out, and I noticed that no existing app combines both: real body pose estimation to verify movement, and a financial incentive to stay consistent. When there's a chance of losing money, you're motivated to show up - nobody likes financial damage. Building it solo meant end-to-end ownership: I can ship fast, debug deep, and iterate without coordination overhead. Plus, I knew it would be a fun challenge!</a:t>
            </a:r>
            <a:endParaRPr sz="950">
              <a:solidFill>
                <a:schemeClr val="dk1"/>
              </a:solidFill>
              <a:latin typeface="Sora"/>
              <a:ea typeface="Sora"/>
              <a:cs typeface="Sora"/>
              <a:sym typeface="Sora"/>
            </a:endParaRPr>
          </a:p>
        </p:txBody>
      </p:sp>
      <p:sp>
        <p:nvSpPr>
          <p:cNvPr id="191" name="Google Shape;191;g3e0aff94d23_2_13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0aff94d23_2_1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e0aff94d23_2_17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Currently five exercises are supported, but the system scales to arbitrarily many - adding a new one is just a new detector file and a JSON entry. Solana's high throughput means users won't wait to log reps or collect rewards. Thanks for your attention!</a:t>
            </a:r>
            <a:endParaRPr/>
          </a:p>
          <a:p>
            <a:pPr indent="0" lvl="0" marL="0" rtl="0" algn="l">
              <a:spcBef>
                <a:spcPts val="1200"/>
              </a:spcBef>
              <a:spcAft>
                <a:spcPts val="0"/>
              </a:spcAft>
              <a:buNone/>
            </a:pPr>
            <a:r>
              <a:t/>
            </a:r>
            <a:endParaRPr/>
          </a:p>
        </p:txBody>
      </p:sp>
      <p:sp>
        <p:nvSpPr>
          <p:cNvPr id="208" name="Google Shape;208;g3e0aff94d23_2_17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0303"/>
        </a:solidFill>
      </p:bgPr>
    </p:bg>
    <p:spTree>
      <p:nvGrpSpPr>
        <p:cNvPr id="56" name="Shape 56"/>
        <p:cNvGrpSpPr/>
        <p:nvPr/>
      </p:nvGrpSpPr>
      <p:grpSpPr>
        <a:xfrm>
          <a:off x="0" y="0"/>
          <a:ext cx="0" cy="0"/>
          <a:chOff x="0" y="0"/>
          <a:chExt cx="0" cy="0"/>
        </a:xfrm>
      </p:grpSpPr>
      <p:sp>
        <p:nvSpPr>
          <p:cNvPr id="57" name="Google Shape;57;p15"/>
          <p:cNvSpPr/>
          <p:nvPr/>
        </p:nvSpPr>
        <p:spPr>
          <a:xfrm>
            <a:off x="-1371600" y="-1097280"/>
            <a:ext cx="4114800" cy="4114800"/>
          </a:xfrm>
          <a:prstGeom prst="ellipse">
            <a:avLst/>
          </a:prstGeom>
          <a:solidFill>
            <a:srgbClr val="95389E">
              <a:alpha val="12941"/>
            </a:srgbClr>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6858000" y="2926080"/>
            <a:ext cx="3657600" cy="3657600"/>
          </a:xfrm>
          <a:prstGeom prst="ellipse">
            <a:avLst/>
          </a:prstGeom>
          <a:solidFill>
            <a:srgbClr val="43D8C9">
              <a:alpha val="12156"/>
            </a:srgbClr>
          </a:solidFill>
          <a:ln cap="flat" cmpd="sng" w="12700">
            <a:solidFill>
              <a:srgbClr val="43D8C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 name="Google Shape;59;p15"/>
          <p:cNvCxnSpPr/>
          <p:nvPr/>
        </p:nvCxnSpPr>
        <p:spPr>
          <a:xfrm>
            <a:off x="0" y="0"/>
            <a:ext cx="0" cy="5143500"/>
          </a:xfrm>
          <a:prstGeom prst="straightConnector1">
            <a:avLst/>
          </a:prstGeom>
          <a:noFill/>
          <a:ln cap="flat" cmpd="sng" w="9525">
            <a:solidFill>
              <a:srgbClr val="F7F7F7">
                <a:alpha val="3921"/>
              </a:srgbClr>
            </a:solidFill>
            <a:prstDash val="solid"/>
            <a:round/>
            <a:headEnd len="sm" w="sm" type="none"/>
            <a:tailEnd len="sm" w="sm" type="none"/>
          </a:ln>
        </p:spPr>
      </p:cxnSp>
      <p:cxnSp>
        <p:nvCxnSpPr>
          <p:cNvPr id="60" name="Google Shape;60;p15"/>
          <p:cNvCxnSpPr/>
          <p:nvPr/>
        </p:nvCxnSpPr>
        <p:spPr>
          <a:xfrm>
            <a:off x="1828800" y="0"/>
            <a:ext cx="0" cy="5143500"/>
          </a:xfrm>
          <a:prstGeom prst="straightConnector1">
            <a:avLst/>
          </a:prstGeom>
          <a:noFill/>
          <a:ln cap="flat" cmpd="sng" w="9525">
            <a:solidFill>
              <a:srgbClr val="F7F7F7">
                <a:alpha val="3921"/>
              </a:srgbClr>
            </a:solidFill>
            <a:prstDash val="solid"/>
            <a:round/>
            <a:headEnd len="sm" w="sm" type="none"/>
            <a:tailEnd len="sm" w="sm" type="none"/>
          </a:ln>
        </p:spPr>
      </p:cxnSp>
      <p:cxnSp>
        <p:nvCxnSpPr>
          <p:cNvPr id="61" name="Google Shape;61;p15"/>
          <p:cNvCxnSpPr/>
          <p:nvPr/>
        </p:nvCxnSpPr>
        <p:spPr>
          <a:xfrm>
            <a:off x="3657600" y="0"/>
            <a:ext cx="0" cy="5143500"/>
          </a:xfrm>
          <a:prstGeom prst="straightConnector1">
            <a:avLst/>
          </a:prstGeom>
          <a:noFill/>
          <a:ln cap="flat" cmpd="sng" w="9525">
            <a:solidFill>
              <a:srgbClr val="F7F7F7">
                <a:alpha val="3921"/>
              </a:srgbClr>
            </a:solidFill>
            <a:prstDash val="solid"/>
            <a:round/>
            <a:headEnd len="sm" w="sm" type="none"/>
            <a:tailEnd len="sm" w="sm" type="none"/>
          </a:ln>
        </p:spPr>
      </p:cxnSp>
      <p:cxnSp>
        <p:nvCxnSpPr>
          <p:cNvPr id="62" name="Google Shape;62;p15"/>
          <p:cNvCxnSpPr/>
          <p:nvPr/>
        </p:nvCxnSpPr>
        <p:spPr>
          <a:xfrm>
            <a:off x="5486400" y="0"/>
            <a:ext cx="0" cy="5143500"/>
          </a:xfrm>
          <a:prstGeom prst="straightConnector1">
            <a:avLst/>
          </a:prstGeom>
          <a:noFill/>
          <a:ln cap="flat" cmpd="sng" w="9525">
            <a:solidFill>
              <a:srgbClr val="F7F7F7">
                <a:alpha val="3921"/>
              </a:srgbClr>
            </a:solidFill>
            <a:prstDash val="solid"/>
            <a:round/>
            <a:headEnd len="sm" w="sm" type="none"/>
            <a:tailEnd len="sm" w="sm" type="none"/>
          </a:ln>
        </p:spPr>
      </p:cxnSp>
      <p:cxnSp>
        <p:nvCxnSpPr>
          <p:cNvPr id="63" name="Google Shape;63;p15"/>
          <p:cNvCxnSpPr/>
          <p:nvPr/>
        </p:nvCxnSpPr>
        <p:spPr>
          <a:xfrm>
            <a:off x="7315200" y="0"/>
            <a:ext cx="0" cy="5143500"/>
          </a:xfrm>
          <a:prstGeom prst="straightConnector1">
            <a:avLst/>
          </a:prstGeom>
          <a:noFill/>
          <a:ln cap="flat" cmpd="sng" w="9525">
            <a:solidFill>
              <a:srgbClr val="F7F7F7">
                <a:alpha val="3921"/>
              </a:srgbClr>
            </a:solidFill>
            <a:prstDash val="solid"/>
            <a:round/>
            <a:headEnd len="sm" w="sm" type="none"/>
            <a:tailEnd len="sm" w="sm" type="none"/>
          </a:ln>
        </p:spPr>
      </p:cxnSp>
      <p:cxnSp>
        <p:nvCxnSpPr>
          <p:cNvPr id="64" name="Google Shape;64;p15"/>
          <p:cNvCxnSpPr/>
          <p:nvPr/>
        </p:nvCxnSpPr>
        <p:spPr>
          <a:xfrm>
            <a:off x="9144000" y="0"/>
            <a:ext cx="0" cy="5143500"/>
          </a:xfrm>
          <a:prstGeom prst="straightConnector1">
            <a:avLst/>
          </a:prstGeom>
          <a:noFill/>
          <a:ln cap="flat" cmpd="sng" w="9525">
            <a:solidFill>
              <a:srgbClr val="F7F7F7">
                <a:alpha val="3921"/>
              </a:srgbClr>
            </a:solidFill>
            <a:prstDash val="solid"/>
            <a:round/>
            <a:headEnd len="sm" w="sm" type="none"/>
            <a:tailEnd len="sm" w="sm" type="none"/>
          </a:ln>
        </p:spPr>
      </p:cxnSp>
      <p:sp>
        <p:nvSpPr>
          <p:cNvPr id="65" name="Google Shape;65;p15"/>
          <p:cNvSpPr/>
          <p:nvPr/>
        </p:nvSpPr>
        <p:spPr>
          <a:xfrm>
            <a:off x="640080" y="1005840"/>
            <a:ext cx="7315200" cy="1645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9600"/>
              <a:buFont typeface="Orbitron"/>
              <a:buNone/>
            </a:pPr>
            <a:r>
              <a:rPr b="1" i="1" lang="en" sz="9600" u="none" cap="none" strike="noStrike">
                <a:solidFill>
                  <a:srgbClr val="F7F7F7"/>
                </a:solidFill>
                <a:latin typeface="Orbitron"/>
                <a:ea typeface="Orbitron"/>
                <a:cs typeface="Orbitron"/>
                <a:sym typeface="Orbitron"/>
              </a:rPr>
              <a:t>NEO</a:t>
            </a:r>
            <a:r>
              <a:rPr b="1" i="1" lang="en" sz="9600" u="none" cap="none" strike="noStrike">
                <a:solidFill>
                  <a:srgbClr val="95389E"/>
                </a:solidFill>
                <a:latin typeface="Orbitron"/>
                <a:ea typeface="Orbitron"/>
                <a:cs typeface="Orbitron"/>
                <a:sym typeface="Orbitron"/>
              </a:rPr>
              <a:t>FIT</a:t>
            </a:r>
            <a:endParaRPr b="0" i="0" sz="9600" u="none" cap="none" strike="noStrike">
              <a:solidFill>
                <a:schemeClr val="dk1"/>
              </a:solidFill>
              <a:latin typeface="Calibri"/>
              <a:ea typeface="Calibri"/>
              <a:cs typeface="Calibri"/>
              <a:sym typeface="Calibri"/>
            </a:endParaRPr>
          </a:p>
        </p:txBody>
      </p:sp>
      <p:sp>
        <p:nvSpPr>
          <p:cNvPr id="66" name="Google Shape;66;p15"/>
          <p:cNvSpPr/>
          <p:nvPr/>
        </p:nvSpPr>
        <p:spPr>
          <a:xfrm>
            <a:off x="640080" y="260604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800"/>
              <a:buFont typeface="Sora"/>
              <a:buNone/>
            </a:pPr>
            <a:r>
              <a:rPr b="0" i="0" lang="en" sz="1800" u="none" cap="none" strike="noStrike">
                <a:solidFill>
                  <a:srgbClr val="F7F7F7"/>
                </a:solidFill>
                <a:latin typeface="Sora"/>
                <a:ea typeface="Sora"/>
                <a:cs typeface="Sora"/>
                <a:sym typeface="Sora"/>
              </a:rPr>
              <a:t>Prove Your Reps. Own Your Progress.</a:t>
            </a:r>
            <a:endParaRPr b="0" i="0" sz="1800" u="none" cap="none" strike="noStrike">
              <a:solidFill>
                <a:schemeClr val="dk1"/>
              </a:solidFill>
              <a:latin typeface="Calibri"/>
              <a:ea typeface="Calibri"/>
              <a:cs typeface="Calibri"/>
              <a:sym typeface="Calibri"/>
            </a:endParaRPr>
          </a:p>
        </p:txBody>
      </p:sp>
      <p:cxnSp>
        <p:nvCxnSpPr>
          <p:cNvPr id="67" name="Google Shape;67;p15"/>
          <p:cNvCxnSpPr/>
          <p:nvPr/>
        </p:nvCxnSpPr>
        <p:spPr>
          <a:xfrm>
            <a:off x="640080" y="3200400"/>
            <a:ext cx="7863840" cy="0"/>
          </a:xfrm>
          <a:prstGeom prst="straightConnector1">
            <a:avLst/>
          </a:prstGeom>
          <a:noFill/>
          <a:ln cap="flat" cmpd="sng" w="9525">
            <a:solidFill>
              <a:srgbClr val="43D8C9">
                <a:alpha val="50196"/>
              </a:srgbClr>
            </a:solidFill>
            <a:prstDash val="solid"/>
            <a:round/>
            <a:headEnd len="sm" w="sm" type="none"/>
            <a:tailEnd len="sm" w="sm" type="none"/>
          </a:ln>
        </p:spPr>
      </p:cxnSp>
      <p:sp>
        <p:nvSpPr>
          <p:cNvPr id="68" name="Google Shape;68;p15"/>
          <p:cNvSpPr/>
          <p:nvPr/>
        </p:nvSpPr>
        <p:spPr>
          <a:xfrm>
            <a:off x="640080" y="3364992"/>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1300"/>
              <a:buFont typeface="Orbitron"/>
              <a:buNone/>
            </a:pPr>
            <a:r>
              <a:rPr b="0" i="0" lang="en" sz="1300" u="none" cap="none" strike="noStrike">
                <a:solidFill>
                  <a:srgbClr val="43D8C9"/>
                </a:solidFill>
                <a:latin typeface="Orbitron"/>
                <a:ea typeface="Orbitron"/>
                <a:cs typeface="Orbitron"/>
                <a:sym typeface="Orbitron"/>
              </a:rPr>
              <a:t>Lado Turmanidze</a:t>
            </a:r>
            <a:endParaRPr b="0" i="0" sz="1300" u="none" cap="none" strike="noStrike">
              <a:solidFill>
                <a:schemeClr val="dk1"/>
              </a:solidFill>
              <a:latin typeface="Calibri"/>
              <a:ea typeface="Calibri"/>
              <a:cs typeface="Calibri"/>
              <a:sym typeface="Calibri"/>
            </a:endParaRPr>
          </a:p>
        </p:txBody>
      </p:sp>
      <p:sp>
        <p:nvSpPr>
          <p:cNvPr id="69" name="Google Shape;69;p15"/>
          <p:cNvSpPr/>
          <p:nvPr/>
        </p:nvSpPr>
        <p:spPr>
          <a:xfrm>
            <a:off x="640080" y="37033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100"/>
              <a:buFont typeface="Sora"/>
              <a:buNone/>
            </a:pPr>
            <a:r>
              <a:rPr b="0" i="0" lang="en" sz="1100" u="none" cap="none" strike="noStrike">
                <a:solidFill>
                  <a:srgbClr val="F7F7F7"/>
                </a:solidFill>
                <a:latin typeface="Sora"/>
                <a:ea typeface="Sora"/>
                <a:cs typeface="Sora"/>
                <a:sym typeface="Sora"/>
              </a:rPr>
              <a:t>Solo Developer  ·  Solana Colosseum </a:t>
            </a:r>
            <a:r>
              <a:rPr lang="en" sz="1100">
                <a:solidFill>
                  <a:srgbClr val="F7F7F7"/>
                </a:solidFill>
                <a:latin typeface="Sora"/>
                <a:ea typeface="Sora"/>
                <a:cs typeface="Sora"/>
                <a:sym typeface="Sora"/>
              </a:rPr>
              <a:t>Frontier Hackathon</a:t>
            </a:r>
            <a:endParaRPr b="0" i="0" sz="1100" u="none" cap="none" strike="noStrike">
              <a:solidFill>
                <a:schemeClr val="dk1"/>
              </a:solidFill>
              <a:latin typeface="Calibri"/>
              <a:ea typeface="Calibri"/>
              <a:cs typeface="Calibri"/>
              <a:sym typeface="Calibri"/>
            </a:endParaRPr>
          </a:p>
        </p:txBody>
      </p:sp>
      <p:sp>
        <p:nvSpPr>
          <p:cNvPr id="70" name="Google Shape;70;p15"/>
          <p:cNvSpPr/>
          <p:nvPr/>
        </p:nvSpPr>
        <p:spPr>
          <a:xfrm>
            <a:off x="7132320" y="3337560"/>
            <a:ext cx="1645920" cy="502920"/>
          </a:xfrm>
          <a:prstGeom prst="rect">
            <a:avLst/>
          </a:prstGeom>
          <a:solidFill>
            <a:srgbClr val="95389E">
              <a:alpha val="25098"/>
            </a:srgbClr>
          </a:solidFill>
          <a:ln cap="flat" cmpd="sng" w="9525">
            <a:solidFill>
              <a:srgbClr val="9538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a:off x="7150608" y="3401568"/>
            <a:ext cx="160934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D8C9"/>
              </a:buClr>
              <a:buSzPts val="700"/>
              <a:buFont typeface="Orbitron"/>
              <a:buNone/>
            </a:pPr>
            <a:r>
              <a:rPr b="0" i="0" lang="en" sz="700" u="none" cap="none" strike="noStrike">
                <a:solidFill>
                  <a:srgbClr val="43D8C9"/>
                </a:solidFill>
                <a:latin typeface="Orbitron"/>
                <a:ea typeface="Orbitron"/>
                <a:cs typeface="Orbitron"/>
                <a:sym typeface="Orbitron"/>
              </a:rPr>
              <a:t>LIVE ON DEVNET</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0303"/>
        </a:solidFill>
      </p:bgPr>
    </p:bg>
    <p:spTree>
      <p:nvGrpSpPr>
        <p:cNvPr id="76" name="Shape 76"/>
        <p:cNvGrpSpPr/>
        <p:nvPr/>
      </p:nvGrpSpPr>
      <p:grpSpPr>
        <a:xfrm>
          <a:off x="0" y="0"/>
          <a:ext cx="0" cy="0"/>
          <a:chOff x="0" y="0"/>
          <a:chExt cx="0" cy="0"/>
        </a:xfrm>
      </p:grpSpPr>
      <p:sp>
        <p:nvSpPr>
          <p:cNvPr id="77" name="Google Shape;77;p16"/>
          <p:cNvSpPr/>
          <p:nvPr/>
        </p:nvSpPr>
        <p:spPr>
          <a:xfrm>
            <a:off x="-1371600" y="-1097280"/>
            <a:ext cx="4114800" cy="4114800"/>
          </a:xfrm>
          <a:prstGeom prst="ellipse">
            <a:avLst/>
          </a:prstGeom>
          <a:solidFill>
            <a:srgbClr val="95389E">
              <a:alpha val="12941"/>
            </a:srgbClr>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6858000" y="2926080"/>
            <a:ext cx="3657600" cy="3657600"/>
          </a:xfrm>
          <a:prstGeom prst="ellipse">
            <a:avLst/>
          </a:prstGeom>
          <a:solidFill>
            <a:srgbClr val="43D8C9">
              <a:alpha val="12156"/>
            </a:srgbClr>
          </a:solidFill>
          <a:ln cap="flat" cmpd="sng" w="12700">
            <a:solidFill>
              <a:srgbClr val="43D8C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548640" y="320040"/>
            <a:ext cx="1271016" cy="256032"/>
          </a:xfrm>
          <a:prstGeom prst="rect">
            <a:avLst/>
          </a:prstGeom>
          <a:solidFill>
            <a:srgbClr val="43D8C9">
              <a:alpha val="20000"/>
            </a:srgbClr>
          </a:solidFill>
          <a:ln cap="flat" cmpd="sng" w="9525">
            <a:solidFill>
              <a:srgbClr val="43D8C9">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761507" y="352746"/>
            <a:ext cx="117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750"/>
              <a:buFont typeface="Orbitron"/>
              <a:buNone/>
            </a:pPr>
            <a:r>
              <a:rPr b="0" i="0" lang="en" sz="750" u="none" cap="none" strike="noStrike">
                <a:solidFill>
                  <a:srgbClr val="43D8C9"/>
                </a:solidFill>
                <a:latin typeface="Orbitron"/>
                <a:ea typeface="Orbitron"/>
                <a:cs typeface="Orbitron"/>
                <a:sym typeface="Orbitron"/>
              </a:rPr>
              <a:t>THE PROBLEM</a:t>
            </a:r>
            <a:endParaRPr b="0" i="0" sz="750" u="none" cap="none" strike="noStrike">
              <a:solidFill>
                <a:schemeClr val="dk1"/>
              </a:solidFill>
              <a:latin typeface="Calibri"/>
              <a:ea typeface="Calibri"/>
              <a:cs typeface="Calibri"/>
              <a:sym typeface="Calibri"/>
            </a:endParaRPr>
          </a:p>
        </p:txBody>
      </p:sp>
      <p:sp>
        <p:nvSpPr>
          <p:cNvPr id="81" name="Google Shape;81;p16"/>
          <p:cNvSpPr/>
          <p:nvPr/>
        </p:nvSpPr>
        <p:spPr>
          <a:xfrm>
            <a:off x="548640" y="621792"/>
            <a:ext cx="512064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2600"/>
              <a:buFont typeface="Orbitron"/>
              <a:buNone/>
            </a:pPr>
            <a:r>
              <a:rPr b="1" i="0" lang="en" sz="2600" u="none" cap="none" strike="noStrike">
                <a:solidFill>
                  <a:srgbClr val="F7F7F7"/>
                </a:solidFill>
                <a:latin typeface="Orbitron"/>
                <a:ea typeface="Orbitron"/>
                <a:cs typeface="Orbitron"/>
                <a:sym typeface="Orbitron"/>
              </a:rPr>
              <a:t>Fitness apps can't prove</a:t>
            </a:r>
            <a:endParaRPr b="0" i="0" sz="2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2600"/>
              <a:buFont typeface="Orbitron"/>
              <a:buNone/>
            </a:pPr>
            <a:r>
              <a:rPr b="1" i="0" lang="en" sz="2600" u="none" cap="none" strike="noStrike">
                <a:solidFill>
                  <a:srgbClr val="F7F7F7"/>
                </a:solidFill>
                <a:latin typeface="Orbitron"/>
                <a:ea typeface="Orbitron"/>
                <a:cs typeface="Orbitron"/>
                <a:sym typeface="Orbitron"/>
              </a:rPr>
              <a:t>you worked out.</a:t>
            </a:r>
            <a:endParaRPr b="0" i="0" sz="2600" u="none" cap="none" strike="noStrike">
              <a:solidFill>
                <a:schemeClr val="dk1"/>
              </a:solidFill>
              <a:latin typeface="Calibri"/>
              <a:ea typeface="Calibri"/>
              <a:cs typeface="Calibri"/>
              <a:sym typeface="Calibri"/>
            </a:endParaRPr>
          </a:p>
        </p:txBody>
      </p:sp>
      <p:sp>
        <p:nvSpPr>
          <p:cNvPr id="82" name="Google Shape;82;p16"/>
          <p:cNvSpPr/>
          <p:nvPr/>
        </p:nvSpPr>
        <p:spPr>
          <a:xfrm>
            <a:off x="548640" y="1783080"/>
            <a:ext cx="5029200" cy="914400"/>
          </a:xfrm>
          <a:prstGeom prst="rect">
            <a:avLst/>
          </a:prstGeom>
          <a:solidFill>
            <a:srgbClr val="200808">
              <a:alpha val="90196"/>
            </a:srgbClr>
          </a:solidFill>
          <a:ln cap="flat" cmpd="sng" w="9525">
            <a:solidFill>
              <a:srgbClr val="9538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548640" y="1783080"/>
            <a:ext cx="64008" cy="914400"/>
          </a:xfrm>
          <a:prstGeom prst="rect">
            <a:avLst/>
          </a:prstGeom>
          <a:solidFill>
            <a:srgbClr val="95389E"/>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749808" y="1847088"/>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100"/>
              <a:buFont typeface="Orbitron"/>
              <a:buNone/>
            </a:pPr>
            <a:r>
              <a:rPr b="1" i="0" lang="en" sz="1100" u="none" cap="none" strike="noStrike">
                <a:solidFill>
                  <a:srgbClr val="F7F7F7"/>
                </a:solidFill>
                <a:latin typeface="Orbitron"/>
                <a:ea typeface="Orbitron"/>
                <a:cs typeface="Orbitron"/>
                <a:sym typeface="Orbitron"/>
              </a:rPr>
              <a:t>Self-reported only</a:t>
            </a:r>
            <a:endParaRPr b="0" i="0" sz="1100" u="none" cap="none" strike="noStrike">
              <a:solidFill>
                <a:schemeClr val="dk1"/>
              </a:solidFill>
              <a:latin typeface="Calibri"/>
              <a:ea typeface="Calibri"/>
              <a:cs typeface="Calibri"/>
              <a:sym typeface="Calibri"/>
            </a:endParaRPr>
          </a:p>
        </p:txBody>
      </p:sp>
      <p:sp>
        <p:nvSpPr>
          <p:cNvPr id="85" name="Google Shape;85;p16"/>
          <p:cNvSpPr/>
          <p:nvPr/>
        </p:nvSpPr>
        <p:spPr>
          <a:xfrm>
            <a:off x="749808" y="2121408"/>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050"/>
              <a:buFont typeface="Sora"/>
              <a:buNone/>
            </a:pPr>
            <a:r>
              <a:rPr b="0" i="0" lang="en" sz="1050" u="none" cap="none" strike="noStrike">
                <a:solidFill>
                  <a:srgbClr val="F7F7F7"/>
                </a:solidFill>
                <a:latin typeface="Sora"/>
                <a:ea typeface="Sora"/>
                <a:cs typeface="Sora"/>
                <a:sym typeface="Sora"/>
              </a:rPr>
              <a:t>Apps trust whatever you type. There is no verification of real movement.</a:t>
            </a:r>
            <a:endParaRPr b="0" i="0" sz="1050" u="none" cap="none" strike="noStrike">
              <a:solidFill>
                <a:schemeClr val="dk1"/>
              </a:solidFill>
              <a:latin typeface="Calibri"/>
              <a:ea typeface="Calibri"/>
              <a:cs typeface="Calibri"/>
              <a:sym typeface="Calibri"/>
            </a:endParaRPr>
          </a:p>
        </p:txBody>
      </p:sp>
      <p:sp>
        <p:nvSpPr>
          <p:cNvPr id="86" name="Google Shape;86;p16"/>
          <p:cNvSpPr/>
          <p:nvPr/>
        </p:nvSpPr>
        <p:spPr>
          <a:xfrm>
            <a:off x="548640" y="2788920"/>
            <a:ext cx="5029200" cy="914400"/>
          </a:xfrm>
          <a:prstGeom prst="rect">
            <a:avLst/>
          </a:prstGeom>
          <a:solidFill>
            <a:srgbClr val="200808">
              <a:alpha val="90196"/>
            </a:srgbClr>
          </a:solidFill>
          <a:ln cap="flat" cmpd="sng" w="9525">
            <a:solidFill>
              <a:srgbClr val="9538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p:nvPr/>
        </p:nvSpPr>
        <p:spPr>
          <a:xfrm>
            <a:off x="548640" y="2788920"/>
            <a:ext cx="64008" cy="914400"/>
          </a:xfrm>
          <a:prstGeom prst="rect">
            <a:avLst/>
          </a:prstGeom>
          <a:solidFill>
            <a:srgbClr val="95389E"/>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749808" y="2852928"/>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100"/>
              <a:buFont typeface="Orbitron"/>
              <a:buNone/>
            </a:pPr>
            <a:r>
              <a:rPr b="1" i="0" lang="en" sz="1100" u="none" cap="none" strike="noStrike">
                <a:solidFill>
                  <a:srgbClr val="F7F7F7"/>
                </a:solidFill>
                <a:latin typeface="Orbitron"/>
                <a:ea typeface="Orbitron"/>
                <a:cs typeface="Orbitron"/>
                <a:sym typeface="Orbitron"/>
              </a:rPr>
              <a:t>You own nothing</a:t>
            </a:r>
            <a:endParaRPr b="0" i="0" sz="1100" u="none" cap="none" strike="noStrike">
              <a:solidFill>
                <a:schemeClr val="dk1"/>
              </a:solidFill>
              <a:latin typeface="Calibri"/>
              <a:ea typeface="Calibri"/>
              <a:cs typeface="Calibri"/>
              <a:sym typeface="Calibri"/>
            </a:endParaRPr>
          </a:p>
        </p:txBody>
      </p:sp>
      <p:sp>
        <p:nvSpPr>
          <p:cNvPr id="89" name="Google Shape;89;p16"/>
          <p:cNvSpPr/>
          <p:nvPr/>
        </p:nvSpPr>
        <p:spPr>
          <a:xfrm>
            <a:off x="749808" y="3127248"/>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050"/>
              <a:buFont typeface="Sora"/>
              <a:buNone/>
            </a:pPr>
            <a:r>
              <a:rPr b="0" i="0" lang="en" sz="1050" u="none" cap="none" strike="noStrike">
                <a:solidFill>
                  <a:srgbClr val="F7F7F7"/>
                </a:solidFill>
                <a:latin typeface="Sora"/>
                <a:ea typeface="Sora"/>
                <a:cs typeface="Sora"/>
                <a:sym typeface="Sora"/>
              </a:rPr>
              <a:t>Your workout history lives on someone else's server and vanishes with the app.</a:t>
            </a:r>
            <a:endParaRPr b="0" i="0" sz="1050" u="none" cap="none" strike="noStrike">
              <a:solidFill>
                <a:schemeClr val="dk1"/>
              </a:solidFill>
              <a:latin typeface="Calibri"/>
              <a:ea typeface="Calibri"/>
              <a:cs typeface="Calibri"/>
              <a:sym typeface="Calibri"/>
            </a:endParaRPr>
          </a:p>
        </p:txBody>
      </p:sp>
      <p:sp>
        <p:nvSpPr>
          <p:cNvPr id="90" name="Google Shape;90;p16"/>
          <p:cNvSpPr/>
          <p:nvPr/>
        </p:nvSpPr>
        <p:spPr>
          <a:xfrm>
            <a:off x="548640" y="3794760"/>
            <a:ext cx="5029200" cy="914400"/>
          </a:xfrm>
          <a:prstGeom prst="rect">
            <a:avLst/>
          </a:prstGeom>
          <a:solidFill>
            <a:srgbClr val="200808">
              <a:alpha val="90196"/>
            </a:srgbClr>
          </a:solidFill>
          <a:ln cap="flat" cmpd="sng" w="9525">
            <a:solidFill>
              <a:srgbClr val="9538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6"/>
          <p:cNvSpPr/>
          <p:nvPr/>
        </p:nvSpPr>
        <p:spPr>
          <a:xfrm>
            <a:off x="548640" y="3794760"/>
            <a:ext cx="64008" cy="914400"/>
          </a:xfrm>
          <a:prstGeom prst="rect">
            <a:avLst/>
          </a:prstGeom>
          <a:solidFill>
            <a:srgbClr val="95389E"/>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749808" y="3858768"/>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100"/>
              <a:buFont typeface="Orbitron"/>
              <a:buNone/>
            </a:pPr>
            <a:r>
              <a:rPr b="1" i="0" lang="en" sz="1100" u="none" cap="none" strike="noStrike">
                <a:solidFill>
                  <a:srgbClr val="F7F7F7"/>
                </a:solidFill>
                <a:latin typeface="Orbitron"/>
                <a:ea typeface="Orbitron"/>
                <a:cs typeface="Orbitron"/>
                <a:sym typeface="Orbitron"/>
              </a:rPr>
              <a:t>No financial skin in the game</a:t>
            </a:r>
            <a:endParaRPr b="0" i="0" sz="1100" u="none" cap="none" strike="noStrike">
              <a:solidFill>
                <a:schemeClr val="dk1"/>
              </a:solidFill>
              <a:latin typeface="Calibri"/>
              <a:ea typeface="Calibri"/>
              <a:cs typeface="Calibri"/>
              <a:sym typeface="Calibri"/>
            </a:endParaRPr>
          </a:p>
        </p:txBody>
      </p:sp>
      <p:sp>
        <p:nvSpPr>
          <p:cNvPr id="93" name="Google Shape;93;p16"/>
          <p:cNvSpPr/>
          <p:nvPr/>
        </p:nvSpPr>
        <p:spPr>
          <a:xfrm>
            <a:off x="749808" y="4133088"/>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050"/>
              <a:buFont typeface="Sora"/>
              <a:buNone/>
            </a:pPr>
            <a:r>
              <a:rPr b="0" i="0" lang="en" sz="1050" u="none" cap="none" strike="noStrike">
                <a:solidFill>
                  <a:srgbClr val="F7F7F7"/>
                </a:solidFill>
                <a:latin typeface="Sora"/>
                <a:ea typeface="Sora"/>
                <a:cs typeface="Sora"/>
                <a:sym typeface="Sora"/>
              </a:rPr>
              <a:t>No stakes </a:t>
            </a:r>
            <a:r>
              <a:rPr lang="en" sz="1050">
                <a:solidFill>
                  <a:srgbClr val="F7F7F7"/>
                </a:solidFill>
                <a:latin typeface="Sora"/>
                <a:ea typeface="Sora"/>
                <a:cs typeface="Sora"/>
                <a:sym typeface="Sora"/>
              </a:rPr>
              <a:t>=</a:t>
            </a:r>
            <a:r>
              <a:rPr b="0" i="0" lang="en" sz="1050" u="none" cap="none" strike="noStrike">
                <a:solidFill>
                  <a:srgbClr val="F7F7F7"/>
                </a:solidFill>
                <a:latin typeface="Sora"/>
                <a:ea typeface="Sora"/>
                <a:cs typeface="Sora"/>
                <a:sym typeface="Sora"/>
              </a:rPr>
              <a:t> no accountability. Motivation collapses without consequence.</a:t>
            </a:r>
            <a:endParaRPr b="0" i="0" sz="1050" u="none" cap="none" strike="noStrike">
              <a:solidFill>
                <a:schemeClr val="dk1"/>
              </a:solidFill>
              <a:latin typeface="Calibri"/>
              <a:ea typeface="Calibri"/>
              <a:cs typeface="Calibri"/>
              <a:sym typeface="Calibri"/>
            </a:endParaRPr>
          </a:p>
        </p:txBody>
      </p:sp>
      <p:sp>
        <p:nvSpPr>
          <p:cNvPr id="94" name="Google Shape;94;p16"/>
          <p:cNvSpPr/>
          <p:nvPr/>
        </p:nvSpPr>
        <p:spPr>
          <a:xfrm>
            <a:off x="6035040" y="1600200"/>
            <a:ext cx="2651760" cy="3108960"/>
          </a:xfrm>
          <a:prstGeom prst="rect">
            <a:avLst/>
          </a:prstGeom>
          <a:solidFill>
            <a:srgbClr val="1A0505"/>
          </a:solidFill>
          <a:ln cap="flat" cmpd="sng" w="9525">
            <a:solidFill>
              <a:srgbClr val="43D8C9">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6080760" y="1783080"/>
            <a:ext cx="256032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5389E"/>
              </a:buClr>
              <a:buSzPts val="8000"/>
              <a:buFont typeface="Orbitron"/>
              <a:buNone/>
            </a:pPr>
            <a:r>
              <a:rPr b="1" i="0" lang="en" sz="8000" u="none" cap="none" strike="noStrike">
                <a:solidFill>
                  <a:srgbClr val="95389E"/>
                </a:solidFill>
                <a:latin typeface="Orbitron"/>
                <a:ea typeface="Orbitron"/>
                <a:cs typeface="Orbitron"/>
                <a:sym typeface="Orbitron"/>
              </a:rPr>
              <a:t>0%</a:t>
            </a:r>
            <a:endParaRPr b="0" i="0" sz="8000" u="none" cap="none" strike="noStrike">
              <a:solidFill>
                <a:schemeClr val="dk1"/>
              </a:solidFill>
              <a:latin typeface="Calibri"/>
              <a:ea typeface="Calibri"/>
              <a:cs typeface="Calibri"/>
              <a:sym typeface="Calibri"/>
            </a:endParaRPr>
          </a:p>
        </p:txBody>
      </p:sp>
      <p:sp>
        <p:nvSpPr>
          <p:cNvPr id="96" name="Google Shape;96;p16"/>
          <p:cNvSpPr/>
          <p:nvPr/>
        </p:nvSpPr>
        <p:spPr>
          <a:xfrm>
            <a:off x="6080760" y="3017520"/>
            <a:ext cx="256032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7F7"/>
              </a:buClr>
              <a:buSzPts val="1000"/>
              <a:buFont typeface="Sora"/>
              <a:buNone/>
            </a:pPr>
            <a:r>
              <a:rPr b="0" i="0" lang="en" sz="1000" u="none" cap="none" strike="noStrike">
                <a:solidFill>
                  <a:srgbClr val="F7F7F7"/>
                </a:solidFill>
                <a:latin typeface="Sora"/>
                <a:ea typeface="Sora"/>
                <a:cs typeface="Sora"/>
                <a:sym typeface="Sora"/>
              </a:rPr>
              <a:t>of traditional fitness app reps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7F7F7"/>
              </a:buClr>
              <a:buSzPts val="1000"/>
              <a:buFont typeface="Sora"/>
              <a:buNone/>
            </a:pPr>
            <a:r>
              <a:rPr b="0" i="0" lang="en" sz="1000" u="none" cap="none" strike="noStrike">
                <a:solidFill>
                  <a:srgbClr val="F7F7F7"/>
                </a:solidFill>
                <a:latin typeface="Sora"/>
                <a:ea typeface="Sora"/>
                <a:cs typeface="Sora"/>
                <a:sym typeface="Sora"/>
              </a:rPr>
              <a:t>are independently verified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0303"/>
        </a:solidFill>
      </p:bgPr>
    </p:bg>
    <p:spTree>
      <p:nvGrpSpPr>
        <p:cNvPr id="101" name="Shape 101"/>
        <p:cNvGrpSpPr/>
        <p:nvPr/>
      </p:nvGrpSpPr>
      <p:grpSpPr>
        <a:xfrm>
          <a:off x="0" y="0"/>
          <a:ext cx="0" cy="0"/>
          <a:chOff x="0" y="0"/>
          <a:chExt cx="0" cy="0"/>
        </a:xfrm>
      </p:grpSpPr>
      <p:sp>
        <p:nvSpPr>
          <p:cNvPr id="102" name="Google Shape;102;p17"/>
          <p:cNvSpPr/>
          <p:nvPr/>
        </p:nvSpPr>
        <p:spPr>
          <a:xfrm>
            <a:off x="-1371600" y="-1097280"/>
            <a:ext cx="4114800" cy="4114800"/>
          </a:xfrm>
          <a:prstGeom prst="ellipse">
            <a:avLst/>
          </a:prstGeom>
          <a:solidFill>
            <a:srgbClr val="95389E">
              <a:alpha val="12941"/>
            </a:srgbClr>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p:nvPr/>
        </p:nvSpPr>
        <p:spPr>
          <a:xfrm>
            <a:off x="6858000" y="2926080"/>
            <a:ext cx="3657600" cy="3657600"/>
          </a:xfrm>
          <a:prstGeom prst="ellipse">
            <a:avLst/>
          </a:prstGeom>
          <a:solidFill>
            <a:srgbClr val="43D8C9">
              <a:alpha val="12156"/>
            </a:srgbClr>
          </a:solidFill>
          <a:ln cap="flat" cmpd="sng" w="12700">
            <a:solidFill>
              <a:srgbClr val="43D8C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7"/>
          <p:cNvSpPr/>
          <p:nvPr/>
        </p:nvSpPr>
        <p:spPr>
          <a:xfrm>
            <a:off x="548640" y="320040"/>
            <a:ext cx="1353312" cy="256032"/>
          </a:xfrm>
          <a:prstGeom prst="rect">
            <a:avLst/>
          </a:prstGeom>
          <a:solidFill>
            <a:srgbClr val="43D8C9">
              <a:alpha val="20000"/>
            </a:srgbClr>
          </a:solidFill>
          <a:ln cap="flat" cmpd="sng" w="9525">
            <a:solidFill>
              <a:srgbClr val="43D8C9">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p:nvPr/>
        </p:nvSpPr>
        <p:spPr>
          <a:xfrm>
            <a:off x="819544" y="350044"/>
            <a:ext cx="1261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750"/>
              <a:buFont typeface="Orbitron"/>
              <a:buNone/>
            </a:pPr>
            <a:r>
              <a:rPr b="0" i="0" lang="en" sz="750" u="none" cap="none" strike="noStrike">
                <a:solidFill>
                  <a:srgbClr val="43D8C9"/>
                </a:solidFill>
                <a:latin typeface="Orbitron"/>
                <a:ea typeface="Orbitron"/>
                <a:cs typeface="Orbitron"/>
                <a:sym typeface="Orbitron"/>
              </a:rPr>
              <a:t>THE SOLUTION</a:t>
            </a:r>
            <a:endParaRPr b="0" i="0" sz="750" u="none" cap="none" strike="noStrike">
              <a:solidFill>
                <a:schemeClr val="dk1"/>
              </a:solidFill>
              <a:latin typeface="Calibri"/>
              <a:ea typeface="Calibri"/>
              <a:cs typeface="Calibri"/>
              <a:sym typeface="Calibri"/>
            </a:endParaRPr>
          </a:p>
        </p:txBody>
      </p:sp>
      <p:sp>
        <p:nvSpPr>
          <p:cNvPr id="106" name="Google Shape;106;p17"/>
          <p:cNvSpPr/>
          <p:nvPr/>
        </p:nvSpPr>
        <p:spPr>
          <a:xfrm>
            <a:off x="548640" y="658368"/>
            <a:ext cx="804672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3400"/>
              <a:buFont typeface="Orbitron"/>
              <a:buNone/>
            </a:pPr>
            <a:r>
              <a:rPr b="1" i="0" lang="en" sz="3400" u="none" cap="none" strike="noStrike">
                <a:solidFill>
                  <a:srgbClr val="F7F7F7"/>
                </a:solidFill>
                <a:latin typeface="Orbitron"/>
                <a:ea typeface="Orbitron"/>
                <a:cs typeface="Orbitron"/>
                <a:sym typeface="Orbitron"/>
              </a:rPr>
              <a:t>Decentralized Physical</a:t>
            </a:r>
            <a:endParaRPr b="0" i="0" sz="3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3400"/>
              <a:buFont typeface="Orbitron"/>
              <a:buNone/>
            </a:pPr>
            <a:r>
              <a:rPr b="1" i="0" lang="en" sz="3400" u="none" cap="none" strike="noStrike">
                <a:solidFill>
                  <a:srgbClr val="F7F7F7"/>
                </a:solidFill>
                <a:latin typeface="Orbitron"/>
                <a:ea typeface="Orbitron"/>
                <a:cs typeface="Orbitron"/>
                <a:sym typeface="Orbitron"/>
              </a:rPr>
              <a:t>Training Protocol</a:t>
            </a:r>
            <a:endParaRPr b="0" i="0" sz="3400" u="none" cap="none" strike="noStrike">
              <a:solidFill>
                <a:schemeClr val="dk1"/>
              </a:solidFill>
              <a:latin typeface="Calibri"/>
              <a:ea typeface="Calibri"/>
              <a:cs typeface="Calibri"/>
              <a:sym typeface="Calibri"/>
            </a:endParaRPr>
          </a:p>
        </p:txBody>
      </p:sp>
      <p:sp>
        <p:nvSpPr>
          <p:cNvPr id="107" name="Google Shape;107;p17"/>
          <p:cNvSpPr/>
          <p:nvPr/>
        </p:nvSpPr>
        <p:spPr>
          <a:xfrm>
            <a:off x="548640" y="2103120"/>
            <a:ext cx="2651760" cy="2606040"/>
          </a:xfrm>
          <a:prstGeom prst="rect">
            <a:avLst/>
          </a:prstGeom>
          <a:solidFill>
            <a:srgbClr val="1A0505"/>
          </a:solidFill>
          <a:ln cap="flat" cmpd="sng" w="9525">
            <a:solidFill>
              <a:srgbClr val="95389E">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7"/>
          <p:cNvSpPr/>
          <p:nvPr/>
        </p:nvSpPr>
        <p:spPr>
          <a:xfrm>
            <a:off x="713232" y="2267712"/>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389E"/>
              </a:buClr>
              <a:buSzPts val="1200"/>
              <a:buFont typeface="Orbitron"/>
              <a:buNone/>
            </a:pPr>
            <a:r>
              <a:rPr b="1" i="0" lang="en" sz="1200" u="none" cap="none" strike="noStrike">
                <a:solidFill>
                  <a:srgbClr val="95389E"/>
                </a:solidFill>
                <a:latin typeface="Orbitron"/>
                <a:ea typeface="Orbitron"/>
                <a:cs typeface="Orbitron"/>
                <a:sym typeface="Orbitron"/>
              </a:rPr>
              <a:t>01 //</a:t>
            </a:r>
            <a:endParaRPr b="0" i="0" sz="1200" u="none" cap="none" strike="noStrike">
              <a:solidFill>
                <a:schemeClr val="dk1"/>
              </a:solidFill>
              <a:latin typeface="Calibri"/>
              <a:ea typeface="Calibri"/>
              <a:cs typeface="Calibri"/>
              <a:sym typeface="Calibri"/>
            </a:endParaRPr>
          </a:p>
        </p:txBody>
      </p:sp>
      <p:sp>
        <p:nvSpPr>
          <p:cNvPr id="109" name="Google Shape;109;p17"/>
          <p:cNvSpPr/>
          <p:nvPr/>
        </p:nvSpPr>
        <p:spPr>
          <a:xfrm>
            <a:off x="713232" y="2578608"/>
            <a:ext cx="2377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300"/>
              <a:buFont typeface="Orbitron"/>
              <a:buNone/>
            </a:pPr>
            <a:r>
              <a:rPr b="1" i="0" lang="en" sz="1300" u="none" cap="none" strike="noStrike">
                <a:solidFill>
                  <a:srgbClr val="F7F7F7"/>
                </a:solidFill>
                <a:latin typeface="Orbitron"/>
                <a:ea typeface="Orbitron"/>
                <a:cs typeface="Orbitron"/>
                <a:sym typeface="Orbitron"/>
              </a:rPr>
              <a:t>Visual Verification</a:t>
            </a:r>
            <a:endParaRPr b="0" i="0" sz="1300" u="none" cap="none" strike="noStrike">
              <a:solidFill>
                <a:schemeClr val="dk1"/>
              </a:solidFill>
              <a:latin typeface="Calibri"/>
              <a:ea typeface="Calibri"/>
              <a:cs typeface="Calibri"/>
              <a:sym typeface="Calibri"/>
            </a:endParaRPr>
          </a:p>
        </p:txBody>
      </p:sp>
      <p:cxnSp>
        <p:nvCxnSpPr>
          <p:cNvPr id="110" name="Google Shape;110;p17"/>
          <p:cNvCxnSpPr/>
          <p:nvPr/>
        </p:nvCxnSpPr>
        <p:spPr>
          <a:xfrm>
            <a:off x="713232" y="3017520"/>
            <a:ext cx="2194560" cy="0"/>
          </a:xfrm>
          <a:prstGeom prst="straightConnector1">
            <a:avLst/>
          </a:prstGeom>
          <a:noFill/>
          <a:ln cap="flat" cmpd="sng" w="9525">
            <a:solidFill>
              <a:srgbClr val="95389E">
                <a:alpha val="40000"/>
              </a:srgbClr>
            </a:solidFill>
            <a:prstDash val="solid"/>
            <a:round/>
            <a:headEnd len="sm" w="sm" type="none"/>
            <a:tailEnd len="sm" w="sm" type="none"/>
          </a:ln>
        </p:spPr>
      </p:cxnSp>
      <p:sp>
        <p:nvSpPr>
          <p:cNvPr id="111" name="Google Shape;111;p17"/>
          <p:cNvSpPr/>
          <p:nvPr/>
        </p:nvSpPr>
        <p:spPr>
          <a:xfrm>
            <a:off x="687841" y="3303719"/>
            <a:ext cx="2477400" cy="14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050"/>
              <a:buFont typeface="Sora"/>
              <a:buNone/>
            </a:pPr>
            <a:r>
              <a:rPr b="0" i="0" lang="en" sz="1050" u="none" cap="none" strike="noStrike">
                <a:solidFill>
                  <a:srgbClr val="F7F7F7"/>
                </a:solidFill>
                <a:latin typeface="Sora"/>
                <a:ea typeface="Sora"/>
                <a:cs typeface="Sora"/>
                <a:sym typeface="Sora"/>
              </a:rPr>
              <a:t>MoveNet</a:t>
            </a:r>
            <a:r>
              <a:rPr lang="en" sz="1050">
                <a:solidFill>
                  <a:srgbClr val="F7F7F7"/>
                </a:solidFill>
                <a:latin typeface="Sora"/>
                <a:ea typeface="Sora"/>
                <a:cs typeface="Sora"/>
                <a:sym typeface="Sora"/>
              </a:rPr>
              <a:t>*</a:t>
            </a:r>
            <a:r>
              <a:rPr b="0" i="0" lang="en" sz="1050" u="none" cap="none" strike="noStrike">
                <a:solidFill>
                  <a:srgbClr val="F7F7F7"/>
                </a:solidFill>
                <a:latin typeface="Sora"/>
                <a:ea typeface="Sora"/>
                <a:cs typeface="Sora"/>
                <a:sym typeface="Sora"/>
              </a:rPr>
              <a:t> tracks 17 skeletal joints entirely inside your browser. No video is ever recorded or uploaded.</a:t>
            </a:r>
            <a:endParaRPr b="0" i="0" sz="1050" u="none" cap="none" strike="noStrike">
              <a:solidFill>
                <a:srgbClr val="F7F7F7"/>
              </a:solidFill>
              <a:latin typeface="Sora"/>
              <a:ea typeface="Sora"/>
              <a:cs typeface="Sora"/>
              <a:sym typeface="Sora"/>
            </a:endParaRPr>
          </a:p>
          <a:p>
            <a:pPr indent="0" lvl="0" marL="0" marR="0" rtl="0" algn="l">
              <a:spcBef>
                <a:spcPts val="0"/>
              </a:spcBef>
              <a:spcAft>
                <a:spcPts val="0"/>
              </a:spcAft>
              <a:buClr>
                <a:srgbClr val="F7F7F7"/>
              </a:buClr>
              <a:buSzPts val="1050"/>
              <a:buFont typeface="Sora"/>
              <a:buNone/>
            </a:pPr>
            <a:r>
              <a:t/>
            </a:r>
            <a:endParaRPr sz="1050">
              <a:solidFill>
                <a:srgbClr val="F7F7F7"/>
              </a:solidFill>
              <a:latin typeface="Sora"/>
              <a:ea typeface="Sora"/>
              <a:cs typeface="Sora"/>
              <a:sym typeface="Sora"/>
            </a:endParaRPr>
          </a:p>
          <a:p>
            <a:pPr indent="0" lvl="0" marL="0" marR="0" rtl="0" algn="l">
              <a:spcBef>
                <a:spcPts val="0"/>
              </a:spcBef>
              <a:spcAft>
                <a:spcPts val="0"/>
              </a:spcAft>
              <a:buClr>
                <a:srgbClr val="F7F7F7"/>
              </a:buClr>
              <a:buSzPts val="1050"/>
              <a:buFont typeface="Sora"/>
              <a:buNone/>
            </a:pPr>
            <a:r>
              <a:t/>
            </a:r>
            <a:endParaRPr sz="1050">
              <a:solidFill>
                <a:srgbClr val="F7F7F7"/>
              </a:solidFill>
              <a:latin typeface="Sora"/>
              <a:ea typeface="Sora"/>
              <a:cs typeface="Sora"/>
              <a:sym typeface="Sora"/>
            </a:endParaRPr>
          </a:p>
          <a:p>
            <a:pPr indent="0" lvl="0" marL="0" marR="0" rtl="0" algn="l">
              <a:spcBef>
                <a:spcPts val="0"/>
              </a:spcBef>
              <a:spcAft>
                <a:spcPts val="0"/>
              </a:spcAft>
              <a:buClr>
                <a:srgbClr val="F7F7F7"/>
              </a:buClr>
              <a:buSzPts val="1050"/>
              <a:buFont typeface="Sora"/>
              <a:buNone/>
            </a:pPr>
            <a:r>
              <a:t/>
            </a:r>
            <a:endParaRPr sz="1050">
              <a:solidFill>
                <a:srgbClr val="F7F7F7"/>
              </a:solidFill>
              <a:latin typeface="Sora"/>
              <a:ea typeface="Sora"/>
              <a:cs typeface="Sora"/>
              <a:sym typeface="Sora"/>
            </a:endParaRPr>
          </a:p>
        </p:txBody>
      </p:sp>
      <p:sp>
        <p:nvSpPr>
          <p:cNvPr id="112" name="Google Shape;112;p17"/>
          <p:cNvSpPr/>
          <p:nvPr/>
        </p:nvSpPr>
        <p:spPr>
          <a:xfrm>
            <a:off x="3383280" y="2103120"/>
            <a:ext cx="2651760" cy="2606040"/>
          </a:xfrm>
          <a:prstGeom prst="rect">
            <a:avLst/>
          </a:prstGeom>
          <a:solidFill>
            <a:srgbClr val="1A0505"/>
          </a:solidFill>
          <a:ln cap="flat" cmpd="sng" w="9525">
            <a:solidFill>
              <a:srgbClr val="43D8C9">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a:off x="3547872" y="2267712"/>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1200"/>
              <a:buFont typeface="Orbitron"/>
              <a:buNone/>
            </a:pPr>
            <a:r>
              <a:rPr b="1" i="0" lang="en" sz="1200" u="none" cap="none" strike="noStrike">
                <a:solidFill>
                  <a:srgbClr val="43D8C9"/>
                </a:solidFill>
                <a:latin typeface="Orbitron"/>
                <a:ea typeface="Orbitron"/>
                <a:cs typeface="Orbitron"/>
                <a:sym typeface="Orbitron"/>
              </a:rPr>
              <a:t>02 //</a:t>
            </a:r>
            <a:endParaRPr b="0" i="0" sz="1200" u="none" cap="none" strike="noStrike">
              <a:solidFill>
                <a:schemeClr val="dk1"/>
              </a:solidFill>
              <a:latin typeface="Calibri"/>
              <a:ea typeface="Calibri"/>
              <a:cs typeface="Calibri"/>
              <a:sym typeface="Calibri"/>
            </a:endParaRPr>
          </a:p>
        </p:txBody>
      </p:sp>
      <p:sp>
        <p:nvSpPr>
          <p:cNvPr id="114" name="Google Shape;114;p17"/>
          <p:cNvSpPr/>
          <p:nvPr/>
        </p:nvSpPr>
        <p:spPr>
          <a:xfrm>
            <a:off x="3547872" y="2578608"/>
            <a:ext cx="2377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300"/>
              <a:buFont typeface="Orbitron"/>
              <a:buNone/>
            </a:pPr>
            <a:r>
              <a:rPr b="1" i="0" lang="en" sz="1300" u="none" cap="none" strike="noStrike">
                <a:solidFill>
                  <a:srgbClr val="F7F7F7"/>
                </a:solidFill>
                <a:latin typeface="Orbitron"/>
                <a:ea typeface="Orbitron"/>
                <a:cs typeface="Orbitron"/>
                <a:sym typeface="Orbitron"/>
              </a:rPr>
              <a:t>Cryptographic Proof</a:t>
            </a:r>
            <a:endParaRPr b="0" i="0" sz="1300" u="none" cap="none" strike="noStrike">
              <a:solidFill>
                <a:schemeClr val="dk1"/>
              </a:solidFill>
              <a:latin typeface="Calibri"/>
              <a:ea typeface="Calibri"/>
              <a:cs typeface="Calibri"/>
              <a:sym typeface="Calibri"/>
            </a:endParaRPr>
          </a:p>
        </p:txBody>
      </p:sp>
      <p:cxnSp>
        <p:nvCxnSpPr>
          <p:cNvPr id="115" name="Google Shape;115;p17"/>
          <p:cNvCxnSpPr/>
          <p:nvPr/>
        </p:nvCxnSpPr>
        <p:spPr>
          <a:xfrm>
            <a:off x="3547872" y="3017520"/>
            <a:ext cx="2194560" cy="0"/>
          </a:xfrm>
          <a:prstGeom prst="straightConnector1">
            <a:avLst/>
          </a:prstGeom>
          <a:noFill/>
          <a:ln cap="flat" cmpd="sng" w="9525">
            <a:solidFill>
              <a:srgbClr val="43D8C9">
                <a:alpha val="40000"/>
              </a:srgbClr>
            </a:solidFill>
            <a:prstDash val="solid"/>
            <a:round/>
            <a:headEnd len="sm" w="sm" type="none"/>
            <a:tailEnd len="sm" w="sm" type="none"/>
          </a:ln>
        </p:spPr>
      </p:cxnSp>
      <p:sp>
        <p:nvSpPr>
          <p:cNvPr id="116" name="Google Shape;116;p17"/>
          <p:cNvSpPr/>
          <p:nvPr/>
        </p:nvSpPr>
        <p:spPr>
          <a:xfrm>
            <a:off x="3547872" y="3049612"/>
            <a:ext cx="2377500" cy="14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050"/>
              <a:buFont typeface="Sora"/>
              <a:buNone/>
            </a:pPr>
            <a:r>
              <a:rPr b="0" i="0" lang="en" sz="1050" u="none" cap="none" strike="noStrike">
                <a:solidFill>
                  <a:srgbClr val="F7F7F7"/>
                </a:solidFill>
                <a:latin typeface="Sora"/>
                <a:ea typeface="Sora"/>
                <a:cs typeface="Sora"/>
                <a:sym typeface="Sora"/>
              </a:rPr>
              <a:t>Detecting a valid rep (e.g. knee angle &lt; 90°) instantly triggers an on-chain Solana transaction.</a:t>
            </a:r>
            <a:endParaRPr b="0" i="0" sz="1050" u="none" cap="none" strike="noStrike">
              <a:solidFill>
                <a:schemeClr val="dk1"/>
              </a:solidFill>
              <a:latin typeface="Calibri"/>
              <a:ea typeface="Calibri"/>
              <a:cs typeface="Calibri"/>
              <a:sym typeface="Calibri"/>
            </a:endParaRPr>
          </a:p>
        </p:txBody>
      </p:sp>
      <p:sp>
        <p:nvSpPr>
          <p:cNvPr id="117" name="Google Shape;117;p17"/>
          <p:cNvSpPr/>
          <p:nvPr/>
        </p:nvSpPr>
        <p:spPr>
          <a:xfrm>
            <a:off x="6217920" y="2103120"/>
            <a:ext cx="2651760" cy="2606040"/>
          </a:xfrm>
          <a:prstGeom prst="rect">
            <a:avLst/>
          </a:prstGeom>
          <a:solidFill>
            <a:srgbClr val="1A0505"/>
          </a:solidFill>
          <a:ln cap="flat" cmpd="sng" w="9525">
            <a:solidFill>
              <a:srgbClr val="F7F7F7">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p:nvPr/>
        </p:nvSpPr>
        <p:spPr>
          <a:xfrm>
            <a:off x="6382512" y="2267712"/>
            <a:ext cx="2377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200"/>
              <a:buFont typeface="Orbitron"/>
              <a:buNone/>
            </a:pPr>
            <a:r>
              <a:rPr b="1" i="0" lang="en" sz="1200" u="none" cap="none" strike="noStrike">
                <a:solidFill>
                  <a:srgbClr val="F7F7F7"/>
                </a:solidFill>
                <a:latin typeface="Orbitron"/>
                <a:ea typeface="Orbitron"/>
                <a:cs typeface="Orbitron"/>
                <a:sym typeface="Orbitron"/>
              </a:rPr>
              <a:t>03 //</a:t>
            </a:r>
            <a:endParaRPr b="0" i="0" sz="1200" u="none" cap="none" strike="noStrike">
              <a:solidFill>
                <a:schemeClr val="dk1"/>
              </a:solidFill>
              <a:latin typeface="Calibri"/>
              <a:ea typeface="Calibri"/>
              <a:cs typeface="Calibri"/>
              <a:sym typeface="Calibri"/>
            </a:endParaRPr>
          </a:p>
        </p:txBody>
      </p:sp>
      <p:sp>
        <p:nvSpPr>
          <p:cNvPr id="119" name="Google Shape;119;p17"/>
          <p:cNvSpPr/>
          <p:nvPr/>
        </p:nvSpPr>
        <p:spPr>
          <a:xfrm>
            <a:off x="6382512" y="2578608"/>
            <a:ext cx="23774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300"/>
              <a:buFont typeface="Orbitron"/>
              <a:buNone/>
            </a:pPr>
            <a:r>
              <a:rPr b="1" i="0" lang="en" sz="1300" u="none" cap="none" strike="noStrike">
                <a:solidFill>
                  <a:srgbClr val="F7F7F7"/>
                </a:solidFill>
                <a:latin typeface="Orbitron"/>
                <a:ea typeface="Orbitron"/>
                <a:cs typeface="Orbitron"/>
                <a:sym typeface="Orbitron"/>
              </a:rPr>
              <a:t>Immutable Ledger</a:t>
            </a:r>
            <a:endParaRPr b="0" i="0" sz="1300" u="none" cap="none" strike="noStrike">
              <a:solidFill>
                <a:schemeClr val="dk1"/>
              </a:solidFill>
              <a:latin typeface="Calibri"/>
              <a:ea typeface="Calibri"/>
              <a:cs typeface="Calibri"/>
              <a:sym typeface="Calibri"/>
            </a:endParaRPr>
          </a:p>
        </p:txBody>
      </p:sp>
      <p:cxnSp>
        <p:nvCxnSpPr>
          <p:cNvPr id="120" name="Google Shape;120;p17"/>
          <p:cNvCxnSpPr/>
          <p:nvPr/>
        </p:nvCxnSpPr>
        <p:spPr>
          <a:xfrm>
            <a:off x="6382512" y="3017520"/>
            <a:ext cx="2194560" cy="0"/>
          </a:xfrm>
          <a:prstGeom prst="straightConnector1">
            <a:avLst/>
          </a:prstGeom>
          <a:noFill/>
          <a:ln cap="flat" cmpd="sng" w="9525">
            <a:solidFill>
              <a:srgbClr val="F7F7F7">
                <a:alpha val="40000"/>
              </a:srgbClr>
            </a:solidFill>
            <a:prstDash val="solid"/>
            <a:round/>
            <a:headEnd len="sm" w="sm" type="none"/>
            <a:tailEnd len="sm" w="sm" type="none"/>
          </a:ln>
        </p:spPr>
      </p:cxnSp>
      <p:sp>
        <p:nvSpPr>
          <p:cNvPr id="121" name="Google Shape;121;p17"/>
          <p:cNvSpPr/>
          <p:nvPr/>
        </p:nvSpPr>
        <p:spPr>
          <a:xfrm>
            <a:off x="6322115" y="3108950"/>
            <a:ext cx="2477400" cy="14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050"/>
              <a:buFont typeface="Sora"/>
              <a:buNone/>
            </a:pPr>
            <a:r>
              <a:rPr b="0" i="0" lang="en" sz="1050" u="none" cap="none" strike="noStrike">
                <a:solidFill>
                  <a:srgbClr val="F7F7F7"/>
                </a:solidFill>
                <a:latin typeface="Sora"/>
                <a:ea typeface="Sora"/>
                <a:cs typeface="Sora"/>
                <a:sym typeface="Sora"/>
              </a:rPr>
              <a:t>Y</a:t>
            </a:r>
            <a:r>
              <a:rPr lang="en" sz="1050">
                <a:solidFill>
                  <a:srgbClr val="F7F7F7"/>
                </a:solidFill>
                <a:latin typeface="Sora"/>
                <a:ea typeface="Sora"/>
                <a:cs typeface="Sora"/>
                <a:sym typeface="Sora"/>
              </a:rPr>
              <a:t>our progress is tied to your wallet, so nobody else can touch it </a:t>
            </a:r>
            <a:r>
              <a:rPr b="0" i="0" lang="en" sz="1050" u="none" cap="none" strike="noStrike">
                <a:solidFill>
                  <a:srgbClr val="F7F7F7"/>
                </a:solidFill>
                <a:latin typeface="Sora"/>
                <a:ea typeface="Sora"/>
                <a:cs typeface="Sora"/>
                <a:sym typeface="Sora"/>
              </a:rPr>
              <a:t>. Join prize pool challenges </a:t>
            </a:r>
            <a:r>
              <a:rPr lang="en" sz="1050">
                <a:solidFill>
                  <a:srgbClr val="F7F7F7"/>
                </a:solidFill>
                <a:latin typeface="Sora"/>
                <a:ea typeface="Sora"/>
                <a:cs typeface="Sora"/>
                <a:sym typeface="Sora"/>
              </a:rPr>
              <a:t>-</a:t>
            </a:r>
            <a:r>
              <a:rPr b="0" i="0" lang="en" sz="1050" u="none" cap="none" strike="noStrike">
                <a:solidFill>
                  <a:srgbClr val="F7F7F7"/>
                </a:solidFill>
                <a:latin typeface="Sora"/>
                <a:ea typeface="Sora"/>
                <a:cs typeface="Sora"/>
                <a:sym typeface="Sora"/>
              </a:rPr>
              <a:t> completers share the po</a:t>
            </a:r>
            <a:r>
              <a:rPr lang="en" sz="1050">
                <a:solidFill>
                  <a:srgbClr val="F7F7F7"/>
                </a:solidFill>
                <a:latin typeface="Sora"/>
                <a:ea typeface="Sora"/>
                <a:cs typeface="Sora"/>
                <a:sym typeface="Sora"/>
              </a:rPr>
              <a:t>!</a:t>
            </a:r>
            <a:r>
              <a:rPr b="0" i="0" lang="en" sz="1050" u="none" cap="none" strike="noStrike">
                <a:solidFill>
                  <a:srgbClr val="F7F7F7"/>
                </a:solidFill>
                <a:latin typeface="Sora"/>
                <a:ea typeface="Sora"/>
                <a:cs typeface="Sora"/>
                <a:sym typeface="Sora"/>
              </a:rPr>
              <a:t>.</a:t>
            </a:r>
            <a:endParaRPr b="0" i="0" sz="1050" u="none" cap="none" strike="noStrike">
              <a:solidFill>
                <a:schemeClr val="dk1"/>
              </a:solidFill>
              <a:latin typeface="Calibri"/>
              <a:ea typeface="Calibri"/>
              <a:cs typeface="Calibri"/>
              <a:sym typeface="Calibri"/>
            </a:endParaRPr>
          </a:p>
        </p:txBody>
      </p:sp>
      <p:sp>
        <p:nvSpPr>
          <p:cNvPr id="122" name="Google Shape;122;p17"/>
          <p:cNvSpPr txBox="1"/>
          <p:nvPr/>
        </p:nvSpPr>
        <p:spPr>
          <a:xfrm>
            <a:off x="474200" y="4760475"/>
            <a:ext cx="67485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F7F7F7"/>
              </a:buClr>
              <a:buSzPts val="1050"/>
              <a:buFont typeface="Sora"/>
              <a:buNone/>
            </a:pPr>
            <a:r>
              <a:rPr lang="en" sz="1050">
                <a:solidFill>
                  <a:srgbClr val="F7F7F7"/>
                </a:solidFill>
                <a:latin typeface="Sora"/>
                <a:ea typeface="Sora"/>
                <a:cs typeface="Sora"/>
                <a:sym typeface="Sora"/>
              </a:rPr>
              <a:t>* MoveNet is a body pose estimation model developed by Google.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0303"/>
        </a:solidFill>
      </p:bgPr>
    </p:bg>
    <p:spTree>
      <p:nvGrpSpPr>
        <p:cNvPr id="127" name="Shape 127"/>
        <p:cNvGrpSpPr/>
        <p:nvPr/>
      </p:nvGrpSpPr>
      <p:grpSpPr>
        <a:xfrm>
          <a:off x="0" y="0"/>
          <a:ext cx="0" cy="0"/>
          <a:chOff x="0" y="0"/>
          <a:chExt cx="0" cy="0"/>
        </a:xfrm>
      </p:grpSpPr>
      <p:sp>
        <p:nvSpPr>
          <p:cNvPr id="128" name="Google Shape;128;p18"/>
          <p:cNvSpPr/>
          <p:nvPr/>
        </p:nvSpPr>
        <p:spPr>
          <a:xfrm>
            <a:off x="-1371600" y="-1097280"/>
            <a:ext cx="4114800" cy="4114800"/>
          </a:xfrm>
          <a:prstGeom prst="ellipse">
            <a:avLst/>
          </a:prstGeom>
          <a:solidFill>
            <a:srgbClr val="95389E">
              <a:alpha val="12941"/>
            </a:srgbClr>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8"/>
          <p:cNvSpPr/>
          <p:nvPr/>
        </p:nvSpPr>
        <p:spPr>
          <a:xfrm>
            <a:off x="6858000" y="2926080"/>
            <a:ext cx="3657600" cy="3657600"/>
          </a:xfrm>
          <a:prstGeom prst="ellipse">
            <a:avLst/>
          </a:prstGeom>
          <a:solidFill>
            <a:srgbClr val="43D8C9">
              <a:alpha val="12156"/>
            </a:srgbClr>
          </a:solidFill>
          <a:ln cap="flat" cmpd="sng" w="12700">
            <a:solidFill>
              <a:srgbClr val="43D8C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8"/>
          <p:cNvSpPr/>
          <p:nvPr/>
        </p:nvSpPr>
        <p:spPr>
          <a:xfrm>
            <a:off x="548640" y="274320"/>
            <a:ext cx="1353312" cy="256032"/>
          </a:xfrm>
          <a:prstGeom prst="rect">
            <a:avLst/>
          </a:prstGeom>
          <a:solidFill>
            <a:srgbClr val="43D8C9">
              <a:alpha val="20000"/>
            </a:srgbClr>
          </a:solidFill>
          <a:ln cap="flat" cmpd="sng" w="9525">
            <a:solidFill>
              <a:srgbClr val="43D8C9">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8"/>
          <p:cNvSpPr/>
          <p:nvPr/>
        </p:nvSpPr>
        <p:spPr>
          <a:xfrm>
            <a:off x="796111" y="304324"/>
            <a:ext cx="1261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750"/>
              <a:buFont typeface="Orbitron"/>
              <a:buNone/>
            </a:pPr>
            <a:r>
              <a:rPr b="0" i="0" lang="en" sz="750" u="none" cap="none" strike="noStrike">
                <a:solidFill>
                  <a:srgbClr val="43D8C9"/>
                </a:solidFill>
                <a:latin typeface="Orbitron"/>
                <a:ea typeface="Orbitron"/>
                <a:cs typeface="Orbitron"/>
                <a:sym typeface="Orbitron"/>
              </a:rPr>
              <a:t>HOW IT WORKS</a:t>
            </a:r>
            <a:endParaRPr b="0" i="0" sz="750" u="none" cap="none" strike="noStrike">
              <a:solidFill>
                <a:schemeClr val="dk1"/>
              </a:solidFill>
              <a:latin typeface="Calibri"/>
              <a:ea typeface="Calibri"/>
              <a:cs typeface="Calibri"/>
              <a:sym typeface="Calibri"/>
            </a:endParaRPr>
          </a:p>
        </p:txBody>
      </p:sp>
      <p:sp>
        <p:nvSpPr>
          <p:cNvPr id="132" name="Google Shape;132;p18"/>
          <p:cNvSpPr/>
          <p:nvPr/>
        </p:nvSpPr>
        <p:spPr>
          <a:xfrm>
            <a:off x="548640" y="594360"/>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2600"/>
              <a:buFont typeface="Orbitron"/>
              <a:buNone/>
            </a:pPr>
            <a:r>
              <a:rPr b="1" i="0" lang="en" sz="2600" u="none" cap="none" strike="noStrike">
                <a:solidFill>
                  <a:srgbClr val="F7F7F7"/>
                </a:solidFill>
                <a:latin typeface="Orbitron"/>
                <a:ea typeface="Orbitron"/>
                <a:cs typeface="Orbitron"/>
                <a:sym typeface="Orbitron"/>
              </a:rPr>
              <a:t>Three steps, fully on-chain.</a:t>
            </a:r>
            <a:endParaRPr b="0" i="0" sz="2600" u="none" cap="none" strike="noStrike">
              <a:solidFill>
                <a:schemeClr val="dk1"/>
              </a:solidFill>
              <a:latin typeface="Calibri"/>
              <a:ea typeface="Calibri"/>
              <a:cs typeface="Calibri"/>
              <a:sym typeface="Calibri"/>
            </a:endParaRPr>
          </a:p>
        </p:txBody>
      </p:sp>
      <p:sp>
        <p:nvSpPr>
          <p:cNvPr id="133" name="Google Shape;133;p18"/>
          <p:cNvSpPr/>
          <p:nvPr/>
        </p:nvSpPr>
        <p:spPr>
          <a:xfrm>
            <a:off x="1325880" y="1261872"/>
            <a:ext cx="1005840" cy="1005840"/>
          </a:xfrm>
          <a:prstGeom prst="ellipse">
            <a:avLst/>
          </a:prstGeom>
          <a:solidFill>
            <a:srgbClr val="43D8C9">
              <a:alpha val="20000"/>
            </a:srgbClr>
          </a:solidFill>
          <a:ln cap="flat" cmpd="sng" w="19050">
            <a:solidFill>
              <a:srgbClr val="43D8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8"/>
          <p:cNvSpPr/>
          <p:nvPr/>
        </p:nvSpPr>
        <p:spPr>
          <a:xfrm>
            <a:off x="1325880" y="1261872"/>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D8C9"/>
              </a:buClr>
              <a:buSzPts val="3000"/>
              <a:buFont typeface="Orbitron"/>
              <a:buNone/>
            </a:pPr>
            <a:r>
              <a:rPr b="1" i="0" lang="en" sz="3000" u="none" cap="none" strike="noStrike">
                <a:solidFill>
                  <a:srgbClr val="43D8C9"/>
                </a:solidFill>
                <a:latin typeface="Orbitron"/>
                <a:ea typeface="Orbitron"/>
                <a:cs typeface="Orbitron"/>
                <a:sym typeface="Orbitron"/>
              </a:rPr>
              <a:t>1</a:t>
            </a:r>
            <a:endParaRPr b="0" i="0" sz="3000" u="none" cap="none" strike="noStrike">
              <a:solidFill>
                <a:schemeClr val="dk1"/>
              </a:solidFill>
              <a:latin typeface="Calibri"/>
              <a:ea typeface="Calibri"/>
              <a:cs typeface="Calibri"/>
              <a:sym typeface="Calibri"/>
            </a:endParaRPr>
          </a:p>
        </p:txBody>
      </p:sp>
      <p:cxnSp>
        <p:nvCxnSpPr>
          <p:cNvPr id="135" name="Google Shape;135;p18"/>
          <p:cNvCxnSpPr/>
          <p:nvPr/>
        </p:nvCxnSpPr>
        <p:spPr>
          <a:xfrm>
            <a:off x="3154680" y="1764792"/>
            <a:ext cx="274320" cy="0"/>
          </a:xfrm>
          <a:prstGeom prst="straightConnector1">
            <a:avLst/>
          </a:prstGeom>
          <a:noFill/>
          <a:ln cap="flat" cmpd="sng" w="19050">
            <a:solidFill>
              <a:srgbClr val="43D8C9">
                <a:alpha val="60000"/>
              </a:srgbClr>
            </a:solidFill>
            <a:prstDash val="solid"/>
            <a:round/>
            <a:headEnd len="sm" w="sm" type="none"/>
            <a:tailEnd len="sm" w="sm" type="none"/>
          </a:ln>
        </p:spPr>
      </p:cxnSp>
      <p:sp>
        <p:nvSpPr>
          <p:cNvPr id="136" name="Google Shape;136;p18"/>
          <p:cNvSpPr/>
          <p:nvPr/>
        </p:nvSpPr>
        <p:spPr>
          <a:xfrm>
            <a:off x="502920" y="2377440"/>
            <a:ext cx="2651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D8C9"/>
              </a:buClr>
              <a:buSzPts val="1400"/>
              <a:buFont typeface="Orbitron"/>
              <a:buNone/>
            </a:pPr>
            <a:r>
              <a:rPr b="1" i="0" lang="en" sz="1400" u="none" cap="none" strike="noStrike">
                <a:solidFill>
                  <a:srgbClr val="43D8C9"/>
                </a:solidFill>
                <a:latin typeface="Orbitron"/>
                <a:ea typeface="Orbitron"/>
                <a:cs typeface="Orbitron"/>
                <a:sym typeface="Orbitron"/>
              </a:rPr>
              <a:t>Camera On</a:t>
            </a:r>
            <a:endParaRPr b="0" i="0" sz="1400" u="none" cap="none" strike="noStrike">
              <a:solidFill>
                <a:schemeClr val="dk1"/>
              </a:solidFill>
              <a:latin typeface="Calibri"/>
              <a:ea typeface="Calibri"/>
              <a:cs typeface="Calibri"/>
              <a:sym typeface="Calibri"/>
            </a:endParaRPr>
          </a:p>
        </p:txBody>
      </p:sp>
      <p:sp>
        <p:nvSpPr>
          <p:cNvPr id="137" name="Google Shape;137;p18"/>
          <p:cNvSpPr/>
          <p:nvPr/>
        </p:nvSpPr>
        <p:spPr>
          <a:xfrm>
            <a:off x="502920" y="2788920"/>
            <a:ext cx="2651760" cy="2057400"/>
          </a:xfrm>
          <a:prstGeom prst="rect">
            <a:avLst/>
          </a:prstGeom>
          <a:solidFill>
            <a:srgbClr val="1A0505"/>
          </a:solidFill>
          <a:ln cap="flat" cmpd="sng" w="9525">
            <a:solidFill>
              <a:srgbClr val="43D8C9">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8"/>
          <p:cNvSpPr/>
          <p:nvPr/>
        </p:nvSpPr>
        <p:spPr>
          <a:xfrm>
            <a:off x="502920" y="2788920"/>
            <a:ext cx="64008" cy="2057400"/>
          </a:xfrm>
          <a:prstGeom prst="rect">
            <a:avLst/>
          </a:prstGeom>
          <a:solidFill>
            <a:srgbClr val="43D8C9">
              <a:alpha val="80000"/>
            </a:srgbClr>
          </a:solidFill>
          <a:ln cap="flat" cmpd="sng" w="12700">
            <a:solidFill>
              <a:srgbClr val="43D8C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8"/>
          <p:cNvSpPr/>
          <p:nvPr/>
        </p:nvSpPr>
        <p:spPr>
          <a:xfrm>
            <a:off x="667449" y="2852953"/>
            <a:ext cx="2377500" cy="192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Your webcam feeds frames t</a:t>
            </a:r>
            <a:r>
              <a:rPr b="0" i="0" lang="en" sz="1200" u="none" cap="none" strike="noStrike">
                <a:solidFill>
                  <a:srgbClr val="F7F7F7"/>
                </a:solidFill>
                <a:latin typeface="Sora"/>
                <a:ea typeface="Sora"/>
                <a:cs typeface="Sora"/>
                <a:sym typeface="Sora"/>
              </a:rPr>
              <a:t>o</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MoveNet </a:t>
            </a:r>
            <a:r>
              <a:rPr lang="en" sz="1200">
                <a:solidFill>
                  <a:srgbClr val="F7F7F7"/>
                </a:solidFill>
                <a:latin typeface="Sora"/>
                <a:ea typeface="Sora"/>
                <a:cs typeface="Sora"/>
                <a:sym typeface="Sora"/>
              </a:rPr>
              <a:t>(</a:t>
            </a:r>
            <a:r>
              <a:rPr b="0" i="0" lang="en" sz="1200" u="none" cap="none" strike="noStrike">
                <a:solidFill>
                  <a:srgbClr val="F7F7F7"/>
                </a:solidFill>
                <a:latin typeface="Sora"/>
                <a:ea typeface="Sora"/>
                <a:cs typeface="Sora"/>
                <a:sym typeface="Sora"/>
              </a:rPr>
              <a:t>running locally).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17 joint coordinates tracked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at 60fps. Zero data leaves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your browser.</a:t>
            </a:r>
            <a:endParaRPr b="0" i="0" sz="1200" u="none" cap="none" strike="noStrike">
              <a:solidFill>
                <a:schemeClr val="dk1"/>
              </a:solidFill>
              <a:latin typeface="Calibri"/>
              <a:ea typeface="Calibri"/>
              <a:cs typeface="Calibri"/>
              <a:sym typeface="Calibri"/>
            </a:endParaRPr>
          </a:p>
        </p:txBody>
      </p:sp>
      <p:sp>
        <p:nvSpPr>
          <p:cNvPr id="140" name="Google Shape;140;p18"/>
          <p:cNvSpPr/>
          <p:nvPr/>
        </p:nvSpPr>
        <p:spPr>
          <a:xfrm>
            <a:off x="4233672" y="1261872"/>
            <a:ext cx="1005840" cy="1005840"/>
          </a:xfrm>
          <a:prstGeom prst="ellipse">
            <a:avLst/>
          </a:prstGeom>
          <a:solidFill>
            <a:srgbClr val="95389E">
              <a:alpha val="20000"/>
            </a:srgbClr>
          </a:solidFill>
          <a:ln cap="flat" cmpd="sng" w="19050">
            <a:solidFill>
              <a:srgbClr val="9538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8"/>
          <p:cNvSpPr/>
          <p:nvPr/>
        </p:nvSpPr>
        <p:spPr>
          <a:xfrm>
            <a:off x="4233672" y="1261872"/>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5389E"/>
              </a:buClr>
              <a:buSzPts val="3000"/>
              <a:buFont typeface="Orbitron"/>
              <a:buNone/>
            </a:pPr>
            <a:r>
              <a:rPr b="1" i="0" lang="en" sz="3000" u="none" cap="none" strike="noStrike">
                <a:solidFill>
                  <a:srgbClr val="95389E"/>
                </a:solidFill>
                <a:latin typeface="Orbitron"/>
                <a:ea typeface="Orbitron"/>
                <a:cs typeface="Orbitron"/>
                <a:sym typeface="Orbitron"/>
              </a:rPr>
              <a:t>2</a:t>
            </a:r>
            <a:endParaRPr b="0" i="0" sz="3000" u="none" cap="none" strike="noStrike">
              <a:solidFill>
                <a:schemeClr val="dk1"/>
              </a:solidFill>
              <a:latin typeface="Calibri"/>
              <a:ea typeface="Calibri"/>
              <a:cs typeface="Calibri"/>
              <a:sym typeface="Calibri"/>
            </a:endParaRPr>
          </a:p>
        </p:txBody>
      </p:sp>
      <p:cxnSp>
        <p:nvCxnSpPr>
          <p:cNvPr id="142" name="Google Shape;142;p18"/>
          <p:cNvCxnSpPr/>
          <p:nvPr/>
        </p:nvCxnSpPr>
        <p:spPr>
          <a:xfrm>
            <a:off x="6062472" y="1764792"/>
            <a:ext cx="274320" cy="0"/>
          </a:xfrm>
          <a:prstGeom prst="straightConnector1">
            <a:avLst/>
          </a:prstGeom>
          <a:noFill/>
          <a:ln cap="flat" cmpd="sng" w="19050">
            <a:solidFill>
              <a:srgbClr val="43D8C9">
                <a:alpha val="60000"/>
              </a:srgbClr>
            </a:solidFill>
            <a:prstDash val="solid"/>
            <a:round/>
            <a:headEnd len="sm" w="sm" type="none"/>
            <a:tailEnd len="sm" w="sm" type="none"/>
          </a:ln>
        </p:spPr>
      </p:cxnSp>
      <p:sp>
        <p:nvSpPr>
          <p:cNvPr id="143" name="Google Shape;143;p18"/>
          <p:cNvSpPr/>
          <p:nvPr/>
        </p:nvSpPr>
        <p:spPr>
          <a:xfrm>
            <a:off x="3410712" y="2377440"/>
            <a:ext cx="2651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5389E"/>
              </a:buClr>
              <a:buSzPts val="1400"/>
              <a:buFont typeface="Orbitron"/>
              <a:buNone/>
            </a:pPr>
            <a:r>
              <a:rPr b="1" i="0" lang="en" sz="1400" u="none" cap="none" strike="noStrike">
                <a:solidFill>
                  <a:srgbClr val="95389E"/>
                </a:solidFill>
                <a:latin typeface="Orbitron"/>
                <a:ea typeface="Orbitron"/>
                <a:cs typeface="Orbitron"/>
                <a:sym typeface="Orbitron"/>
              </a:rPr>
              <a:t>Rep Verified</a:t>
            </a:r>
            <a:endParaRPr b="0" i="0" sz="1400" u="none" cap="none" strike="noStrike">
              <a:solidFill>
                <a:schemeClr val="dk1"/>
              </a:solidFill>
              <a:latin typeface="Calibri"/>
              <a:ea typeface="Calibri"/>
              <a:cs typeface="Calibri"/>
              <a:sym typeface="Calibri"/>
            </a:endParaRPr>
          </a:p>
        </p:txBody>
      </p:sp>
      <p:sp>
        <p:nvSpPr>
          <p:cNvPr id="144" name="Google Shape;144;p18"/>
          <p:cNvSpPr/>
          <p:nvPr/>
        </p:nvSpPr>
        <p:spPr>
          <a:xfrm>
            <a:off x="3410712" y="2788920"/>
            <a:ext cx="2651760" cy="2057400"/>
          </a:xfrm>
          <a:prstGeom prst="rect">
            <a:avLst/>
          </a:prstGeom>
          <a:solidFill>
            <a:srgbClr val="1A0505"/>
          </a:solidFill>
          <a:ln cap="flat" cmpd="sng" w="9525">
            <a:solidFill>
              <a:srgbClr val="95389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8"/>
          <p:cNvSpPr/>
          <p:nvPr/>
        </p:nvSpPr>
        <p:spPr>
          <a:xfrm>
            <a:off x="3410712" y="2788920"/>
            <a:ext cx="64008" cy="2057400"/>
          </a:xfrm>
          <a:prstGeom prst="rect">
            <a:avLst/>
          </a:prstGeom>
          <a:solidFill>
            <a:srgbClr val="95389E">
              <a:alpha val="80000"/>
            </a:srgbClr>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8"/>
          <p:cNvSpPr/>
          <p:nvPr/>
        </p:nvSpPr>
        <p:spPr>
          <a:xfrm>
            <a:off x="3575304" y="2852928"/>
            <a:ext cx="237744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Joint angles are computed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each frame. When a valid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rep threshold is crossed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(e.g. knee &lt; 90°, arm &gt; 160°)</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the rep is counted.</a:t>
            </a:r>
            <a:endParaRPr b="0" i="0" sz="1200" u="none" cap="none" strike="noStrike">
              <a:solidFill>
                <a:schemeClr val="dk1"/>
              </a:solidFill>
              <a:latin typeface="Calibri"/>
              <a:ea typeface="Calibri"/>
              <a:cs typeface="Calibri"/>
              <a:sym typeface="Calibri"/>
            </a:endParaRPr>
          </a:p>
        </p:txBody>
      </p:sp>
      <p:sp>
        <p:nvSpPr>
          <p:cNvPr id="147" name="Google Shape;147;p18"/>
          <p:cNvSpPr/>
          <p:nvPr/>
        </p:nvSpPr>
        <p:spPr>
          <a:xfrm>
            <a:off x="7141464" y="1261872"/>
            <a:ext cx="1005840" cy="1005840"/>
          </a:xfrm>
          <a:prstGeom prst="ellipse">
            <a:avLst/>
          </a:prstGeom>
          <a:solidFill>
            <a:srgbClr val="F7F7F7">
              <a:alpha val="20000"/>
            </a:srgbClr>
          </a:solidFill>
          <a:ln cap="flat" cmpd="sng" w="19050">
            <a:solidFill>
              <a:srgbClr val="F7F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p:nvPr/>
        </p:nvSpPr>
        <p:spPr>
          <a:xfrm>
            <a:off x="7141464" y="1261872"/>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7F7"/>
              </a:buClr>
              <a:buSzPts val="3000"/>
              <a:buFont typeface="Orbitron"/>
              <a:buNone/>
            </a:pPr>
            <a:r>
              <a:rPr b="1" i="0" lang="en" sz="3000" u="none" cap="none" strike="noStrike">
                <a:solidFill>
                  <a:srgbClr val="F7F7F7"/>
                </a:solidFill>
                <a:latin typeface="Orbitron"/>
                <a:ea typeface="Orbitron"/>
                <a:cs typeface="Orbitron"/>
                <a:sym typeface="Orbitron"/>
              </a:rPr>
              <a:t>3</a:t>
            </a:r>
            <a:endParaRPr b="0" i="0" sz="3000" u="none" cap="none" strike="noStrike">
              <a:solidFill>
                <a:schemeClr val="dk1"/>
              </a:solidFill>
              <a:latin typeface="Calibri"/>
              <a:ea typeface="Calibri"/>
              <a:cs typeface="Calibri"/>
              <a:sym typeface="Calibri"/>
            </a:endParaRPr>
          </a:p>
        </p:txBody>
      </p:sp>
      <p:sp>
        <p:nvSpPr>
          <p:cNvPr id="149" name="Google Shape;149;p18"/>
          <p:cNvSpPr/>
          <p:nvPr/>
        </p:nvSpPr>
        <p:spPr>
          <a:xfrm>
            <a:off x="6318504" y="2377440"/>
            <a:ext cx="2651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7F7"/>
              </a:buClr>
              <a:buSzPts val="1400"/>
              <a:buFont typeface="Orbitron"/>
              <a:buNone/>
            </a:pPr>
            <a:r>
              <a:rPr b="1" i="0" lang="en" sz="1400" u="none" cap="none" strike="noStrike">
                <a:solidFill>
                  <a:srgbClr val="F7F7F7"/>
                </a:solidFill>
                <a:latin typeface="Orbitron"/>
                <a:ea typeface="Orbitron"/>
                <a:cs typeface="Orbitron"/>
                <a:sym typeface="Orbitron"/>
              </a:rPr>
              <a:t>On-Chain</a:t>
            </a:r>
            <a:endParaRPr b="0" i="0" sz="1400" u="none" cap="none" strike="noStrike">
              <a:solidFill>
                <a:schemeClr val="dk1"/>
              </a:solidFill>
              <a:latin typeface="Calibri"/>
              <a:ea typeface="Calibri"/>
              <a:cs typeface="Calibri"/>
              <a:sym typeface="Calibri"/>
            </a:endParaRPr>
          </a:p>
        </p:txBody>
      </p:sp>
      <p:sp>
        <p:nvSpPr>
          <p:cNvPr id="150" name="Google Shape;150;p18"/>
          <p:cNvSpPr/>
          <p:nvPr/>
        </p:nvSpPr>
        <p:spPr>
          <a:xfrm>
            <a:off x="6318504" y="2788920"/>
            <a:ext cx="2651760" cy="2057400"/>
          </a:xfrm>
          <a:prstGeom prst="rect">
            <a:avLst/>
          </a:prstGeom>
          <a:solidFill>
            <a:srgbClr val="1A0505"/>
          </a:solidFill>
          <a:ln cap="flat" cmpd="sng" w="9525">
            <a:solidFill>
              <a:srgbClr val="F7F7F7">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a:off x="6318504" y="2788920"/>
            <a:ext cx="64008" cy="2057400"/>
          </a:xfrm>
          <a:prstGeom prst="rect">
            <a:avLst/>
          </a:prstGeom>
          <a:solidFill>
            <a:srgbClr val="F7F7F7">
              <a:alpha val="80000"/>
            </a:srgbClr>
          </a:solidFill>
          <a:ln cap="flat" cmpd="sng" w="12700">
            <a:solidFill>
              <a:srgbClr val="F7F7F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a:off x="6483096" y="2852928"/>
            <a:ext cx="237744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Session ends </a:t>
            </a:r>
            <a:r>
              <a:rPr lang="en" sz="1200">
                <a:solidFill>
                  <a:srgbClr val="F7F7F7"/>
                </a:solidFill>
                <a:latin typeface="Sora"/>
                <a:ea typeface="Sora"/>
                <a:cs typeface="Sora"/>
                <a:sym typeface="Sora"/>
              </a:rPr>
              <a:t>=&gt;</a:t>
            </a:r>
            <a:r>
              <a:rPr b="0" i="0" lang="en" sz="1200" u="none" cap="none" strike="noStrike">
                <a:solidFill>
                  <a:srgbClr val="F7F7F7"/>
                </a:solidFill>
                <a:latin typeface="Sora"/>
                <a:ea typeface="Sora"/>
                <a:cs typeface="Sora"/>
                <a:sym typeface="Sora"/>
              </a:rPr>
              <a:t> one Anchor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instruction: log_reps().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Your UserProfile PDA updates.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7F7F7"/>
              </a:buClr>
              <a:buSzPts val="1000"/>
              <a:buFont typeface="Sora"/>
              <a:buNone/>
            </a:pPr>
            <a:r>
              <a:rPr b="0" i="0" lang="en" sz="1200" u="none" cap="none" strike="noStrike">
                <a:solidFill>
                  <a:srgbClr val="F7F7F7"/>
                </a:solidFill>
                <a:latin typeface="Sora"/>
                <a:ea typeface="Sora"/>
                <a:cs typeface="Sora"/>
                <a:sym typeface="Sora"/>
              </a:rPr>
              <a:t>Challenge enrollment progress</a:t>
            </a:r>
            <a:r>
              <a:rPr lang="en" sz="1200">
                <a:solidFill>
                  <a:schemeClr val="dk1"/>
                </a:solidFill>
                <a:latin typeface="Calibri"/>
                <a:ea typeface="Calibri"/>
                <a:cs typeface="Calibri"/>
                <a:sym typeface="Calibri"/>
              </a:rPr>
              <a:t> </a:t>
            </a:r>
            <a:r>
              <a:rPr b="0" i="0" lang="en" sz="1200" u="none" cap="none" strike="noStrike">
                <a:solidFill>
                  <a:srgbClr val="F7F7F7"/>
                </a:solidFill>
                <a:latin typeface="Sora"/>
                <a:ea typeface="Sora"/>
                <a:cs typeface="Sora"/>
                <a:sym typeface="Sora"/>
              </a:rPr>
              <a:t>auto-tracked on Solana.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0303"/>
        </a:solidFill>
      </p:bgPr>
    </p:bg>
    <p:spTree>
      <p:nvGrpSpPr>
        <p:cNvPr id="157" name="Shape 157"/>
        <p:cNvGrpSpPr/>
        <p:nvPr/>
      </p:nvGrpSpPr>
      <p:grpSpPr>
        <a:xfrm>
          <a:off x="0" y="0"/>
          <a:ext cx="0" cy="0"/>
          <a:chOff x="0" y="0"/>
          <a:chExt cx="0" cy="0"/>
        </a:xfrm>
      </p:grpSpPr>
      <p:sp>
        <p:nvSpPr>
          <p:cNvPr id="158" name="Google Shape;158;p19"/>
          <p:cNvSpPr/>
          <p:nvPr/>
        </p:nvSpPr>
        <p:spPr>
          <a:xfrm>
            <a:off x="-1371600" y="-1097280"/>
            <a:ext cx="4114800" cy="4114800"/>
          </a:xfrm>
          <a:prstGeom prst="ellipse">
            <a:avLst/>
          </a:prstGeom>
          <a:solidFill>
            <a:srgbClr val="95389E">
              <a:alpha val="12941"/>
            </a:srgbClr>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a:off x="6858000" y="2926080"/>
            <a:ext cx="3657600" cy="3657600"/>
          </a:xfrm>
          <a:prstGeom prst="ellipse">
            <a:avLst/>
          </a:prstGeom>
          <a:solidFill>
            <a:srgbClr val="43D8C9">
              <a:alpha val="12156"/>
            </a:srgbClr>
          </a:solidFill>
          <a:ln cap="flat" cmpd="sng" w="12700">
            <a:solidFill>
              <a:srgbClr val="43D8C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a:off x="548640" y="274320"/>
            <a:ext cx="1517904" cy="256032"/>
          </a:xfrm>
          <a:prstGeom prst="rect">
            <a:avLst/>
          </a:prstGeom>
          <a:solidFill>
            <a:srgbClr val="43D8C9">
              <a:alpha val="20000"/>
            </a:srgbClr>
          </a:solidFill>
          <a:ln cap="flat" cmpd="sng" w="9525">
            <a:solidFill>
              <a:srgbClr val="43D8C9">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a:off x="924992" y="304324"/>
            <a:ext cx="14265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750"/>
              <a:buFont typeface="Orbitron"/>
              <a:buNone/>
            </a:pPr>
            <a:r>
              <a:rPr b="0" i="0" lang="en" sz="750" u="none" cap="none" strike="noStrike">
                <a:solidFill>
                  <a:srgbClr val="43D8C9"/>
                </a:solidFill>
                <a:latin typeface="Orbitron"/>
                <a:ea typeface="Orbitron"/>
                <a:cs typeface="Orbitron"/>
                <a:sym typeface="Orbitron"/>
              </a:rPr>
              <a:t>LLM USAGE</a:t>
            </a:r>
            <a:endParaRPr b="0" i="0" sz="750" u="none" cap="none" strike="noStrike">
              <a:solidFill>
                <a:schemeClr val="dk1"/>
              </a:solidFill>
              <a:latin typeface="Calibri"/>
              <a:ea typeface="Calibri"/>
              <a:cs typeface="Calibri"/>
              <a:sym typeface="Calibri"/>
            </a:endParaRPr>
          </a:p>
        </p:txBody>
      </p:sp>
      <p:sp>
        <p:nvSpPr>
          <p:cNvPr id="162" name="Google Shape;162;p19"/>
          <p:cNvSpPr/>
          <p:nvPr/>
        </p:nvSpPr>
        <p:spPr>
          <a:xfrm>
            <a:off x="548640" y="594360"/>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2400"/>
              <a:buFont typeface="Orbitron"/>
              <a:buNone/>
            </a:pPr>
            <a:r>
              <a:rPr b="1" i="0" lang="en" sz="2400" u="none" cap="none" strike="noStrike">
                <a:solidFill>
                  <a:srgbClr val="F7F7F7"/>
                </a:solidFill>
                <a:latin typeface="Orbitron"/>
                <a:ea typeface="Orbitron"/>
                <a:cs typeface="Orbitron"/>
                <a:sym typeface="Orbitron"/>
              </a:rPr>
              <a:t>Transparent AI Collaboration</a:t>
            </a:r>
            <a:endParaRPr b="0" i="0" sz="2400" u="none" cap="none" strike="noStrike">
              <a:solidFill>
                <a:schemeClr val="dk1"/>
              </a:solidFill>
              <a:latin typeface="Calibri"/>
              <a:ea typeface="Calibri"/>
              <a:cs typeface="Calibri"/>
              <a:sym typeface="Calibri"/>
            </a:endParaRPr>
          </a:p>
        </p:txBody>
      </p:sp>
      <p:sp>
        <p:nvSpPr>
          <p:cNvPr id="163" name="Google Shape;163;p19"/>
          <p:cNvSpPr/>
          <p:nvPr/>
        </p:nvSpPr>
        <p:spPr>
          <a:xfrm>
            <a:off x="548640" y="1143000"/>
            <a:ext cx="8046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1150"/>
              <a:buFont typeface="Sora"/>
              <a:buNone/>
            </a:pPr>
            <a:r>
              <a:rPr b="0" i="0" lang="en" sz="1150" u="none" cap="none" strike="noStrike">
                <a:solidFill>
                  <a:srgbClr val="43D8C9"/>
                </a:solidFill>
                <a:latin typeface="Sora"/>
                <a:ea typeface="Sora"/>
                <a:cs typeface="Sora"/>
                <a:sym typeface="Sora"/>
              </a:rPr>
              <a:t>How Claude Sonnet 4.6 was used </a:t>
            </a:r>
            <a:r>
              <a:rPr lang="en" sz="1150">
                <a:solidFill>
                  <a:srgbClr val="43D8C9"/>
                </a:solidFill>
                <a:latin typeface="Sora"/>
                <a:ea typeface="Sora"/>
                <a:cs typeface="Sora"/>
                <a:sym typeface="Sora"/>
              </a:rPr>
              <a:t>-</a:t>
            </a:r>
            <a:r>
              <a:rPr b="0" i="0" lang="en" sz="1150" u="none" cap="none" strike="noStrike">
                <a:solidFill>
                  <a:srgbClr val="43D8C9"/>
                </a:solidFill>
                <a:latin typeface="Sora"/>
                <a:ea typeface="Sora"/>
                <a:cs typeface="Sora"/>
                <a:sym typeface="Sora"/>
              </a:rPr>
              <a:t> and where I intervened:</a:t>
            </a:r>
            <a:endParaRPr b="0" i="0" sz="1150" u="none" cap="none" strike="noStrike">
              <a:solidFill>
                <a:schemeClr val="dk1"/>
              </a:solidFill>
              <a:latin typeface="Calibri"/>
              <a:ea typeface="Calibri"/>
              <a:cs typeface="Calibri"/>
              <a:sym typeface="Calibri"/>
            </a:endParaRPr>
          </a:p>
        </p:txBody>
      </p:sp>
      <p:sp>
        <p:nvSpPr>
          <p:cNvPr id="164" name="Google Shape;164;p19"/>
          <p:cNvSpPr/>
          <p:nvPr/>
        </p:nvSpPr>
        <p:spPr>
          <a:xfrm>
            <a:off x="502920" y="1572768"/>
            <a:ext cx="8366760" cy="1024128"/>
          </a:xfrm>
          <a:prstGeom prst="rect">
            <a:avLst/>
          </a:prstGeom>
          <a:solidFill>
            <a:srgbClr val="1A0505"/>
          </a:solidFill>
          <a:ln cap="flat" cmpd="sng" w="9525">
            <a:solidFill>
              <a:srgbClr val="43D8C9">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9"/>
          <p:cNvSpPr/>
          <p:nvPr/>
        </p:nvSpPr>
        <p:spPr>
          <a:xfrm>
            <a:off x="502920" y="1572768"/>
            <a:ext cx="64008" cy="1024128"/>
          </a:xfrm>
          <a:prstGeom prst="rect">
            <a:avLst/>
          </a:prstGeom>
          <a:solidFill>
            <a:srgbClr val="43D8C9">
              <a:alpha val="90196"/>
            </a:srgbClr>
          </a:solidFill>
          <a:ln cap="flat" cmpd="sng" w="12700">
            <a:solidFill>
              <a:srgbClr val="43D8C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9"/>
          <p:cNvSpPr/>
          <p:nvPr/>
        </p:nvSpPr>
        <p:spPr>
          <a:xfrm>
            <a:off x="685800" y="1636776"/>
            <a:ext cx="22860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800"/>
              <a:buFont typeface="Orbitron"/>
              <a:buNone/>
            </a:pPr>
            <a:r>
              <a:rPr b="1" i="0" lang="en" sz="800" u="none" cap="none" strike="noStrike">
                <a:solidFill>
                  <a:srgbClr val="43D8C9"/>
                </a:solidFill>
                <a:latin typeface="Orbitron"/>
                <a:ea typeface="Orbitron"/>
                <a:cs typeface="Orbitron"/>
                <a:sym typeface="Orbitron"/>
              </a:rPr>
              <a:t>FRONTEND GENERATION</a:t>
            </a:r>
            <a:endParaRPr b="0" i="0" sz="800" u="none" cap="none" strike="noStrike">
              <a:solidFill>
                <a:schemeClr val="dk1"/>
              </a:solidFill>
              <a:latin typeface="Calibri"/>
              <a:ea typeface="Calibri"/>
              <a:cs typeface="Calibri"/>
              <a:sym typeface="Calibri"/>
            </a:endParaRPr>
          </a:p>
        </p:txBody>
      </p:sp>
      <p:sp>
        <p:nvSpPr>
          <p:cNvPr id="167" name="Google Shape;167;p19"/>
          <p:cNvSpPr/>
          <p:nvPr/>
        </p:nvSpPr>
        <p:spPr>
          <a:xfrm>
            <a:off x="685800" y="1874520"/>
            <a:ext cx="4572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700"/>
              <a:buFont typeface="Orbitron"/>
              <a:buNone/>
            </a:pPr>
            <a:r>
              <a:rPr b="0" i="0" lang="en" sz="700" u="none" cap="none" strike="noStrike">
                <a:solidFill>
                  <a:srgbClr val="43D8C9"/>
                </a:solidFill>
                <a:latin typeface="Orbitron"/>
                <a:ea typeface="Orbitron"/>
                <a:cs typeface="Orbitron"/>
                <a:sym typeface="Orbitron"/>
              </a:rPr>
              <a:t>USED:</a:t>
            </a:r>
            <a:endParaRPr b="0" i="0" sz="700" u="none" cap="none" strike="noStrike">
              <a:solidFill>
                <a:schemeClr val="dk1"/>
              </a:solidFill>
              <a:latin typeface="Calibri"/>
              <a:ea typeface="Calibri"/>
              <a:cs typeface="Calibri"/>
              <a:sym typeface="Calibri"/>
            </a:endParaRPr>
          </a:p>
        </p:txBody>
      </p:sp>
      <p:sp>
        <p:nvSpPr>
          <p:cNvPr id="168" name="Google Shape;168;p19"/>
          <p:cNvSpPr/>
          <p:nvPr/>
        </p:nvSpPr>
        <p:spPr>
          <a:xfrm>
            <a:off x="1078992" y="1824421"/>
            <a:ext cx="3520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950"/>
              <a:buFont typeface="Sora"/>
              <a:buNone/>
            </a:pPr>
            <a:r>
              <a:rPr b="0" i="0" lang="en" sz="950" u="none" cap="none" strike="noStrike">
                <a:solidFill>
                  <a:srgbClr val="F7F7F7"/>
                </a:solidFill>
                <a:latin typeface="Sora"/>
                <a:ea typeface="Sora"/>
                <a:cs typeface="Sora"/>
                <a:sym typeface="Sora"/>
              </a:rPr>
              <a:t>After I chose fonts, colors, site structure, and wrote initial HTML/Svelte </a:t>
            </a:r>
            <a:r>
              <a:rPr lang="en" sz="950">
                <a:solidFill>
                  <a:srgbClr val="F7F7F7"/>
                </a:solidFill>
                <a:latin typeface="Sora"/>
                <a:ea typeface="Sora"/>
                <a:cs typeface="Sora"/>
                <a:sym typeface="Sora"/>
              </a:rPr>
              <a:t>-</a:t>
            </a:r>
            <a:r>
              <a:rPr b="0" i="0" lang="en" sz="950" u="none" cap="none" strike="noStrike">
                <a:solidFill>
                  <a:srgbClr val="F7F7F7"/>
                </a:solidFill>
                <a:latin typeface="Sora"/>
                <a:ea typeface="Sora"/>
                <a:cs typeface="Sora"/>
                <a:sym typeface="Sora"/>
              </a:rPr>
              <a:t> I used Claude Sonnet 4.6 to generate complete SvelteKit components with Tailwind CSS styling.</a:t>
            </a:r>
            <a:endParaRPr b="0" i="0" sz="950" u="none" cap="none" strike="noStrike">
              <a:solidFill>
                <a:schemeClr val="dk1"/>
              </a:solidFill>
              <a:latin typeface="Calibri"/>
              <a:ea typeface="Calibri"/>
              <a:cs typeface="Calibri"/>
              <a:sym typeface="Calibri"/>
            </a:endParaRPr>
          </a:p>
        </p:txBody>
      </p:sp>
      <p:cxnSp>
        <p:nvCxnSpPr>
          <p:cNvPr id="169" name="Google Shape;169;p19"/>
          <p:cNvCxnSpPr/>
          <p:nvPr/>
        </p:nvCxnSpPr>
        <p:spPr>
          <a:xfrm>
            <a:off x="4709160" y="1682496"/>
            <a:ext cx="0" cy="804672"/>
          </a:xfrm>
          <a:prstGeom prst="straightConnector1">
            <a:avLst/>
          </a:prstGeom>
          <a:noFill/>
          <a:ln cap="flat" cmpd="sng" w="9525">
            <a:solidFill>
              <a:srgbClr val="43D8C9">
                <a:alpha val="30196"/>
              </a:srgbClr>
            </a:solidFill>
            <a:prstDash val="solid"/>
            <a:round/>
            <a:headEnd len="sm" w="sm" type="none"/>
            <a:tailEnd len="sm" w="sm" type="none"/>
          </a:ln>
        </p:spPr>
      </p:cxnSp>
      <p:sp>
        <p:nvSpPr>
          <p:cNvPr id="170" name="Google Shape;170;p19"/>
          <p:cNvSpPr/>
          <p:nvPr/>
        </p:nvSpPr>
        <p:spPr>
          <a:xfrm>
            <a:off x="4828032" y="1874520"/>
            <a:ext cx="594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389E"/>
              </a:buClr>
              <a:buSzPts val="700"/>
              <a:buFont typeface="Orbitron"/>
              <a:buNone/>
            </a:pPr>
            <a:r>
              <a:rPr b="0" i="0" lang="en" sz="700" u="none" cap="none" strike="noStrike">
                <a:solidFill>
                  <a:srgbClr val="95389E"/>
                </a:solidFill>
                <a:latin typeface="Orbitron"/>
                <a:ea typeface="Orbitron"/>
                <a:cs typeface="Orbitron"/>
                <a:sym typeface="Orbitron"/>
              </a:rPr>
              <a:t>I FIXED:</a:t>
            </a:r>
            <a:endParaRPr b="0" i="0" sz="700" u="none" cap="none" strike="noStrike">
              <a:solidFill>
                <a:schemeClr val="dk1"/>
              </a:solidFill>
              <a:latin typeface="Calibri"/>
              <a:ea typeface="Calibri"/>
              <a:cs typeface="Calibri"/>
              <a:sym typeface="Calibri"/>
            </a:endParaRPr>
          </a:p>
        </p:txBody>
      </p:sp>
      <p:sp>
        <p:nvSpPr>
          <p:cNvPr id="171" name="Google Shape;171;p19"/>
          <p:cNvSpPr/>
          <p:nvPr/>
        </p:nvSpPr>
        <p:spPr>
          <a:xfrm>
            <a:off x="5376672" y="1753357"/>
            <a:ext cx="3337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950"/>
              <a:buFont typeface="Sora"/>
              <a:buNone/>
            </a:pPr>
            <a:r>
              <a:rPr b="0" i="0" lang="en" sz="950" u="none" cap="none" strike="noStrike">
                <a:solidFill>
                  <a:srgbClr val="F7F7F7"/>
                </a:solidFill>
                <a:latin typeface="Sora"/>
                <a:ea typeface="Sora"/>
                <a:cs typeface="Sora"/>
                <a:sym typeface="Sora"/>
              </a:rPr>
              <a:t>Manually corrected layout edge cases and tuned several component interactions that the model got wrong.</a:t>
            </a:r>
            <a:endParaRPr b="0" i="0" sz="950" u="none" cap="none" strike="noStrike">
              <a:solidFill>
                <a:schemeClr val="dk1"/>
              </a:solidFill>
              <a:latin typeface="Calibri"/>
              <a:ea typeface="Calibri"/>
              <a:cs typeface="Calibri"/>
              <a:sym typeface="Calibri"/>
            </a:endParaRPr>
          </a:p>
        </p:txBody>
      </p:sp>
      <p:sp>
        <p:nvSpPr>
          <p:cNvPr id="172" name="Google Shape;172;p19"/>
          <p:cNvSpPr/>
          <p:nvPr/>
        </p:nvSpPr>
        <p:spPr>
          <a:xfrm>
            <a:off x="502920" y="2715768"/>
            <a:ext cx="8366760" cy="1024128"/>
          </a:xfrm>
          <a:prstGeom prst="rect">
            <a:avLst/>
          </a:prstGeom>
          <a:solidFill>
            <a:srgbClr val="1A0505"/>
          </a:solidFill>
          <a:ln cap="flat" cmpd="sng" w="9525">
            <a:solidFill>
              <a:srgbClr val="95389E">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502920" y="2715768"/>
            <a:ext cx="64008" cy="1024128"/>
          </a:xfrm>
          <a:prstGeom prst="rect">
            <a:avLst/>
          </a:prstGeom>
          <a:solidFill>
            <a:srgbClr val="95389E">
              <a:alpha val="90196"/>
            </a:srgbClr>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685800" y="2779776"/>
            <a:ext cx="22860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389E"/>
              </a:buClr>
              <a:buSzPts val="800"/>
              <a:buFont typeface="Orbitron"/>
              <a:buNone/>
            </a:pPr>
            <a:r>
              <a:rPr b="1" i="0" lang="en" sz="800" u="none" cap="none" strike="noStrike">
                <a:solidFill>
                  <a:srgbClr val="95389E"/>
                </a:solidFill>
                <a:latin typeface="Orbitron"/>
                <a:ea typeface="Orbitron"/>
                <a:cs typeface="Orbitron"/>
                <a:sym typeface="Orbitron"/>
              </a:rPr>
              <a:t>TEST GENERATION</a:t>
            </a:r>
            <a:endParaRPr b="0" i="0" sz="800" u="none" cap="none" strike="noStrike">
              <a:solidFill>
                <a:schemeClr val="dk1"/>
              </a:solidFill>
              <a:latin typeface="Calibri"/>
              <a:ea typeface="Calibri"/>
              <a:cs typeface="Calibri"/>
              <a:sym typeface="Calibri"/>
            </a:endParaRPr>
          </a:p>
        </p:txBody>
      </p:sp>
      <p:sp>
        <p:nvSpPr>
          <p:cNvPr id="175" name="Google Shape;175;p19"/>
          <p:cNvSpPr/>
          <p:nvPr/>
        </p:nvSpPr>
        <p:spPr>
          <a:xfrm>
            <a:off x="685800" y="3017520"/>
            <a:ext cx="4572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700"/>
              <a:buFont typeface="Orbitron"/>
              <a:buNone/>
            </a:pPr>
            <a:r>
              <a:rPr b="0" i="0" lang="en" sz="700" u="none" cap="none" strike="noStrike">
                <a:solidFill>
                  <a:srgbClr val="43D8C9"/>
                </a:solidFill>
                <a:latin typeface="Orbitron"/>
                <a:ea typeface="Orbitron"/>
                <a:cs typeface="Orbitron"/>
                <a:sym typeface="Orbitron"/>
              </a:rPr>
              <a:t>USED:</a:t>
            </a:r>
            <a:endParaRPr b="0" i="0" sz="700" u="none" cap="none" strike="noStrike">
              <a:solidFill>
                <a:schemeClr val="dk1"/>
              </a:solidFill>
              <a:latin typeface="Calibri"/>
              <a:ea typeface="Calibri"/>
              <a:cs typeface="Calibri"/>
              <a:sym typeface="Calibri"/>
            </a:endParaRPr>
          </a:p>
        </p:txBody>
      </p:sp>
      <p:sp>
        <p:nvSpPr>
          <p:cNvPr id="176" name="Google Shape;176;p19"/>
          <p:cNvSpPr/>
          <p:nvPr/>
        </p:nvSpPr>
        <p:spPr>
          <a:xfrm>
            <a:off x="1078992" y="2826058"/>
            <a:ext cx="3520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950"/>
              <a:buFont typeface="Sora"/>
              <a:buNone/>
            </a:pPr>
            <a:r>
              <a:rPr b="0" i="0" lang="en" sz="950" u="none" cap="none" strike="noStrike">
                <a:solidFill>
                  <a:srgbClr val="F7F7F7"/>
                </a:solidFill>
                <a:latin typeface="Sora"/>
                <a:ea typeface="Sora"/>
                <a:cs typeface="Sora"/>
                <a:sym typeface="Sora"/>
              </a:rPr>
              <a:t>Claude generated Rust/LiteSVM test suites for all</a:t>
            </a:r>
            <a:r>
              <a:rPr lang="en" sz="950">
                <a:solidFill>
                  <a:srgbClr val="F7F7F7"/>
                </a:solidFill>
                <a:latin typeface="Sora"/>
                <a:ea typeface="Sora"/>
                <a:cs typeface="Sora"/>
                <a:sym typeface="Sora"/>
              </a:rPr>
              <a:t> </a:t>
            </a:r>
            <a:r>
              <a:rPr b="0" i="0" lang="en" sz="950" u="none" cap="none" strike="noStrike">
                <a:solidFill>
                  <a:srgbClr val="F7F7F7"/>
                </a:solidFill>
                <a:latin typeface="Sora"/>
                <a:ea typeface="Sora"/>
                <a:cs typeface="Sora"/>
                <a:sym typeface="Sora"/>
              </a:rPr>
              <a:t>on-chain instructions</a:t>
            </a:r>
            <a:r>
              <a:rPr lang="en" sz="950">
                <a:solidFill>
                  <a:srgbClr val="F7F7F7"/>
                </a:solidFill>
                <a:latin typeface="Sora"/>
                <a:ea typeface="Sora"/>
                <a:cs typeface="Sora"/>
                <a:sym typeface="Sora"/>
              </a:rPr>
              <a:t>.</a:t>
            </a:r>
            <a:endParaRPr b="0" i="0" sz="950" u="none" cap="none" strike="noStrike">
              <a:solidFill>
                <a:schemeClr val="dk1"/>
              </a:solidFill>
              <a:latin typeface="Calibri"/>
              <a:ea typeface="Calibri"/>
              <a:cs typeface="Calibri"/>
              <a:sym typeface="Calibri"/>
            </a:endParaRPr>
          </a:p>
        </p:txBody>
      </p:sp>
      <p:cxnSp>
        <p:nvCxnSpPr>
          <p:cNvPr id="177" name="Google Shape;177;p19"/>
          <p:cNvCxnSpPr/>
          <p:nvPr/>
        </p:nvCxnSpPr>
        <p:spPr>
          <a:xfrm>
            <a:off x="4709160" y="2825496"/>
            <a:ext cx="0" cy="804672"/>
          </a:xfrm>
          <a:prstGeom prst="straightConnector1">
            <a:avLst/>
          </a:prstGeom>
          <a:noFill/>
          <a:ln cap="flat" cmpd="sng" w="9525">
            <a:solidFill>
              <a:srgbClr val="95389E">
                <a:alpha val="30196"/>
              </a:srgbClr>
            </a:solidFill>
            <a:prstDash val="solid"/>
            <a:round/>
            <a:headEnd len="sm" w="sm" type="none"/>
            <a:tailEnd len="sm" w="sm" type="none"/>
          </a:ln>
        </p:spPr>
      </p:cxnSp>
      <p:sp>
        <p:nvSpPr>
          <p:cNvPr id="178" name="Google Shape;178;p19"/>
          <p:cNvSpPr/>
          <p:nvPr/>
        </p:nvSpPr>
        <p:spPr>
          <a:xfrm>
            <a:off x="4828032" y="3017520"/>
            <a:ext cx="594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389E"/>
              </a:buClr>
              <a:buSzPts val="700"/>
              <a:buFont typeface="Orbitron"/>
              <a:buNone/>
            </a:pPr>
            <a:r>
              <a:rPr b="0" i="0" lang="en" sz="700" u="none" cap="none" strike="noStrike">
                <a:solidFill>
                  <a:srgbClr val="95389E"/>
                </a:solidFill>
                <a:latin typeface="Orbitron"/>
                <a:ea typeface="Orbitron"/>
                <a:cs typeface="Orbitron"/>
                <a:sym typeface="Orbitron"/>
              </a:rPr>
              <a:t>I FIXED:</a:t>
            </a:r>
            <a:endParaRPr b="0" i="0" sz="700" u="none" cap="none" strike="noStrike">
              <a:solidFill>
                <a:schemeClr val="dk1"/>
              </a:solidFill>
              <a:latin typeface="Calibri"/>
              <a:ea typeface="Calibri"/>
              <a:cs typeface="Calibri"/>
              <a:sym typeface="Calibri"/>
            </a:endParaRPr>
          </a:p>
        </p:txBody>
      </p:sp>
      <p:sp>
        <p:nvSpPr>
          <p:cNvPr id="179" name="Google Shape;179;p19"/>
          <p:cNvSpPr/>
          <p:nvPr/>
        </p:nvSpPr>
        <p:spPr>
          <a:xfrm>
            <a:off x="5376672" y="2896357"/>
            <a:ext cx="3337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950"/>
              <a:buFont typeface="Sora"/>
              <a:buNone/>
            </a:pPr>
            <a:r>
              <a:rPr b="0" i="0" lang="en" sz="950" u="none" cap="none" strike="noStrike">
                <a:solidFill>
                  <a:srgbClr val="F7F7F7"/>
                </a:solidFill>
                <a:latin typeface="Sora"/>
                <a:ea typeface="Sora"/>
                <a:cs typeface="Sora"/>
                <a:sym typeface="Sora"/>
              </a:rPr>
              <a:t>Fixed quite a few tests that used incorrect account metas, </a:t>
            </a:r>
            <a:r>
              <a:rPr lang="en" sz="950">
                <a:solidFill>
                  <a:srgbClr val="F7F7F7"/>
                </a:solidFill>
                <a:latin typeface="Sora"/>
                <a:ea typeface="Sora"/>
                <a:cs typeface="Sora"/>
                <a:sym typeface="Sora"/>
              </a:rPr>
              <a:t>missing function calls, </a:t>
            </a:r>
            <a:r>
              <a:rPr b="0" i="0" lang="en" sz="950" u="none" cap="none" strike="noStrike">
                <a:solidFill>
                  <a:srgbClr val="F7F7F7"/>
                </a:solidFill>
                <a:latin typeface="Sora"/>
                <a:ea typeface="Sora"/>
                <a:cs typeface="Sora"/>
                <a:sym typeface="Sora"/>
              </a:rPr>
              <a:t>or missed edge cases the Anchor runtime exposed.</a:t>
            </a:r>
            <a:endParaRPr b="0" i="0" sz="950" u="none" cap="none" strike="noStrike">
              <a:solidFill>
                <a:schemeClr val="dk1"/>
              </a:solidFill>
              <a:latin typeface="Calibri"/>
              <a:ea typeface="Calibri"/>
              <a:cs typeface="Calibri"/>
              <a:sym typeface="Calibri"/>
            </a:endParaRPr>
          </a:p>
        </p:txBody>
      </p:sp>
      <p:sp>
        <p:nvSpPr>
          <p:cNvPr id="180" name="Google Shape;180;p19"/>
          <p:cNvSpPr/>
          <p:nvPr/>
        </p:nvSpPr>
        <p:spPr>
          <a:xfrm>
            <a:off x="502920" y="3858768"/>
            <a:ext cx="8366760" cy="1024128"/>
          </a:xfrm>
          <a:prstGeom prst="rect">
            <a:avLst/>
          </a:prstGeom>
          <a:solidFill>
            <a:srgbClr val="1A0505"/>
          </a:solidFill>
          <a:ln cap="flat" cmpd="sng" w="9525">
            <a:solidFill>
              <a:srgbClr val="F7F7F7">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9"/>
          <p:cNvSpPr/>
          <p:nvPr/>
        </p:nvSpPr>
        <p:spPr>
          <a:xfrm>
            <a:off x="502920" y="3858768"/>
            <a:ext cx="64008" cy="1024128"/>
          </a:xfrm>
          <a:prstGeom prst="rect">
            <a:avLst/>
          </a:prstGeom>
          <a:solidFill>
            <a:srgbClr val="F7F7F7">
              <a:alpha val="90196"/>
            </a:srgbClr>
          </a:solidFill>
          <a:ln cap="flat" cmpd="sng" w="12700">
            <a:solidFill>
              <a:srgbClr val="F7F7F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
          <p:cNvSpPr/>
          <p:nvPr/>
        </p:nvSpPr>
        <p:spPr>
          <a:xfrm>
            <a:off x="685800" y="3922776"/>
            <a:ext cx="22860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800"/>
              <a:buFont typeface="Orbitron"/>
              <a:buNone/>
            </a:pPr>
            <a:r>
              <a:rPr b="1" i="0" lang="en" sz="800" u="none" cap="none" strike="noStrike">
                <a:solidFill>
                  <a:srgbClr val="F7F7F7"/>
                </a:solidFill>
                <a:latin typeface="Orbitron"/>
                <a:ea typeface="Orbitron"/>
                <a:cs typeface="Orbitron"/>
                <a:sym typeface="Orbitron"/>
              </a:rPr>
              <a:t>BUG FIXES</a:t>
            </a:r>
            <a:endParaRPr b="0" i="0" sz="800" u="none" cap="none" strike="noStrike">
              <a:solidFill>
                <a:schemeClr val="dk1"/>
              </a:solidFill>
              <a:latin typeface="Calibri"/>
              <a:ea typeface="Calibri"/>
              <a:cs typeface="Calibri"/>
              <a:sym typeface="Calibri"/>
            </a:endParaRPr>
          </a:p>
        </p:txBody>
      </p:sp>
      <p:sp>
        <p:nvSpPr>
          <p:cNvPr id="183" name="Google Shape;183;p19"/>
          <p:cNvSpPr/>
          <p:nvPr/>
        </p:nvSpPr>
        <p:spPr>
          <a:xfrm>
            <a:off x="685800" y="4160520"/>
            <a:ext cx="4572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700"/>
              <a:buFont typeface="Orbitron"/>
              <a:buNone/>
            </a:pPr>
            <a:r>
              <a:rPr b="0" i="0" lang="en" sz="700" u="none" cap="none" strike="noStrike">
                <a:solidFill>
                  <a:srgbClr val="43D8C9"/>
                </a:solidFill>
                <a:latin typeface="Orbitron"/>
                <a:ea typeface="Orbitron"/>
                <a:cs typeface="Orbitron"/>
                <a:sym typeface="Orbitron"/>
              </a:rPr>
              <a:t>USED:</a:t>
            </a:r>
            <a:endParaRPr b="0" i="0" sz="700" u="none" cap="none" strike="noStrike">
              <a:solidFill>
                <a:schemeClr val="dk1"/>
              </a:solidFill>
              <a:latin typeface="Calibri"/>
              <a:ea typeface="Calibri"/>
              <a:cs typeface="Calibri"/>
              <a:sym typeface="Calibri"/>
            </a:endParaRPr>
          </a:p>
        </p:txBody>
      </p:sp>
      <p:sp>
        <p:nvSpPr>
          <p:cNvPr id="184" name="Google Shape;184;p19"/>
          <p:cNvSpPr/>
          <p:nvPr/>
        </p:nvSpPr>
        <p:spPr>
          <a:xfrm>
            <a:off x="1078992" y="4039357"/>
            <a:ext cx="3520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950"/>
              <a:buFont typeface="Sora"/>
              <a:buNone/>
            </a:pPr>
            <a:r>
              <a:rPr b="0" i="0" lang="en" sz="950" u="none" cap="none" strike="noStrike">
                <a:solidFill>
                  <a:srgbClr val="F7F7F7"/>
                </a:solidFill>
                <a:latin typeface="Sora"/>
                <a:ea typeface="Sora"/>
                <a:cs typeface="Sora"/>
                <a:sym typeface="Sora"/>
              </a:rPr>
              <a:t>Used Claude as a reasoning partner to diagnose TypeScript type errors, Anchor IDL mismatch issues, and Vite config problems.</a:t>
            </a:r>
            <a:endParaRPr b="0" i="0" sz="950" u="none" cap="none" strike="noStrike">
              <a:solidFill>
                <a:schemeClr val="dk1"/>
              </a:solidFill>
              <a:latin typeface="Calibri"/>
              <a:ea typeface="Calibri"/>
              <a:cs typeface="Calibri"/>
              <a:sym typeface="Calibri"/>
            </a:endParaRPr>
          </a:p>
        </p:txBody>
      </p:sp>
      <p:cxnSp>
        <p:nvCxnSpPr>
          <p:cNvPr id="185" name="Google Shape;185;p19"/>
          <p:cNvCxnSpPr/>
          <p:nvPr/>
        </p:nvCxnSpPr>
        <p:spPr>
          <a:xfrm>
            <a:off x="4709160" y="3968496"/>
            <a:ext cx="0" cy="804672"/>
          </a:xfrm>
          <a:prstGeom prst="straightConnector1">
            <a:avLst/>
          </a:prstGeom>
          <a:noFill/>
          <a:ln cap="flat" cmpd="sng" w="9525">
            <a:solidFill>
              <a:srgbClr val="F7F7F7">
                <a:alpha val="30196"/>
              </a:srgbClr>
            </a:solidFill>
            <a:prstDash val="solid"/>
            <a:round/>
            <a:headEnd len="sm" w="sm" type="none"/>
            <a:tailEnd len="sm" w="sm" type="none"/>
          </a:ln>
        </p:spPr>
      </p:cxnSp>
      <p:sp>
        <p:nvSpPr>
          <p:cNvPr id="186" name="Google Shape;186;p19"/>
          <p:cNvSpPr/>
          <p:nvPr/>
        </p:nvSpPr>
        <p:spPr>
          <a:xfrm>
            <a:off x="4828032" y="4160520"/>
            <a:ext cx="594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5389E"/>
              </a:buClr>
              <a:buSzPts val="700"/>
              <a:buFont typeface="Orbitron"/>
              <a:buNone/>
            </a:pPr>
            <a:r>
              <a:rPr b="0" i="0" lang="en" sz="700" u="none" cap="none" strike="noStrike">
                <a:solidFill>
                  <a:srgbClr val="95389E"/>
                </a:solidFill>
                <a:latin typeface="Orbitron"/>
                <a:ea typeface="Orbitron"/>
                <a:cs typeface="Orbitron"/>
                <a:sym typeface="Orbitron"/>
              </a:rPr>
              <a:t>I FIXED:</a:t>
            </a:r>
            <a:endParaRPr b="0" i="0" sz="700" u="none" cap="none" strike="noStrike">
              <a:solidFill>
                <a:schemeClr val="dk1"/>
              </a:solidFill>
              <a:latin typeface="Calibri"/>
              <a:ea typeface="Calibri"/>
              <a:cs typeface="Calibri"/>
              <a:sym typeface="Calibri"/>
            </a:endParaRPr>
          </a:p>
        </p:txBody>
      </p:sp>
      <p:sp>
        <p:nvSpPr>
          <p:cNvPr id="187" name="Google Shape;187;p19"/>
          <p:cNvSpPr/>
          <p:nvPr/>
        </p:nvSpPr>
        <p:spPr>
          <a:xfrm>
            <a:off x="5376672" y="4027640"/>
            <a:ext cx="3337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950"/>
              <a:buFont typeface="Sora"/>
              <a:buNone/>
            </a:pPr>
            <a:r>
              <a:rPr b="0" i="0" lang="en" sz="950" u="none" cap="none" strike="noStrike">
                <a:solidFill>
                  <a:srgbClr val="F7F7F7"/>
                </a:solidFill>
                <a:latin typeface="Sora"/>
                <a:ea typeface="Sora"/>
                <a:cs typeface="Sora"/>
                <a:sym typeface="Sora"/>
              </a:rPr>
              <a:t>Validated all suggested fixes against actual error output before applying </a:t>
            </a:r>
            <a:r>
              <a:rPr lang="en" sz="950">
                <a:solidFill>
                  <a:srgbClr val="F7F7F7"/>
                </a:solidFill>
                <a:latin typeface="Sora"/>
                <a:ea typeface="Sora"/>
                <a:cs typeface="Sora"/>
                <a:sym typeface="Sora"/>
              </a:rPr>
              <a:t>-</a:t>
            </a:r>
            <a:r>
              <a:rPr b="0" i="0" lang="en" sz="950" u="none" cap="none" strike="noStrike">
                <a:solidFill>
                  <a:srgbClr val="F7F7F7"/>
                </a:solidFill>
                <a:latin typeface="Sora"/>
                <a:ea typeface="Sora"/>
                <a:cs typeface="Sora"/>
                <a:sym typeface="Sora"/>
              </a:rPr>
              <a:t> rejected several suggestions that would have introduced regressions.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0303"/>
        </a:solidFill>
      </p:bgPr>
    </p:bg>
    <p:spTree>
      <p:nvGrpSpPr>
        <p:cNvPr id="192" name="Shape 192"/>
        <p:cNvGrpSpPr/>
        <p:nvPr/>
      </p:nvGrpSpPr>
      <p:grpSpPr>
        <a:xfrm>
          <a:off x="0" y="0"/>
          <a:ext cx="0" cy="0"/>
          <a:chOff x="0" y="0"/>
          <a:chExt cx="0" cy="0"/>
        </a:xfrm>
      </p:grpSpPr>
      <p:sp>
        <p:nvSpPr>
          <p:cNvPr id="193" name="Google Shape;193;p20"/>
          <p:cNvSpPr/>
          <p:nvPr/>
        </p:nvSpPr>
        <p:spPr>
          <a:xfrm>
            <a:off x="-1371600" y="-1097280"/>
            <a:ext cx="4114800" cy="4114800"/>
          </a:xfrm>
          <a:prstGeom prst="ellipse">
            <a:avLst/>
          </a:prstGeom>
          <a:solidFill>
            <a:srgbClr val="95389E">
              <a:alpha val="12941"/>
            </a:srgbClr>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0"/>
          <p:cNvSpPr/>
          <p:nvPr/>
        </p:nvSpPr>
        <p:spPr>
          <a:xfrm>
            <a:off x="6858000" y="2926080"/>
            <a:ext cx="3657600" cy="3657600"/>
          </a:xfrm>
          <a:prstGeom prst="ellipse">
            <a:avLst/>
          </a:prstGeom>
          <a:solidFill>
            <a:srgbClr val="43D8C9">
              <a:alpha val="12156"/>
            </a:srgbClr>
          </a:solidFill>
          <a:ln cap="flat" cmpd="sng" w="12700">
            <a:solidFill>
              <a:srgbClr val="43D8C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0"/>
          <p:cNvSpPr/>
          <p:nvPr/>
        </p:nvSpPr>
        <p:spPr>
          <a:xfrm>
            <a:off x="548640" y="274320"/>
            <a:ext cx="1271016" cy="256032"/>
          </a:xfrm>
          <a:prstGeom prst="rect">
            <a:avLst/>
          </a:prstGeom>
          <a:solidFill>
            <a:srgbClr val="43D8C9">
              <a:alpha val="20000"/>
            </a:srgbClr>
          </a:solidFill>
          <a:ln cap="flat" cmpd="sng" w="9525">
            <a:solidFill>
              <a:srgbClr val="43D8C9">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0"/>
          <p:cNvSpPr/>
          <p:nvPr/>
        </p:nvSpPr>
        <p:spPr>
          <a:xfrm>
            <a:off x="784395" y="304324"/>
            <a:ext cx="117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750"/>
              <a:buFont typeface="Orbitron"/>
              <a:buNone/>
            </a:pPr>
            <a:r>
              <a:rPr b="0" i="0" lang="en" sz="750" u="none" cap="none" strike="noStrike">
                <a:solidFill>
                  <a:srgbClr val="43D8C9"/>
                </a:solidFill>
                <a:latin typeface="Orbitron"/>
                <a:ea typeface="Orbitron"/>
                <a:cs typeface="Orbitron"/>
                <a:sym typeface="Orbitron"/>
              </a:rPr>
              <a:t>THE BUILDER</a:t>
            </a:r>
            <a:endParaRPr b="0" i="0" sz="750" u="none" cap="none" strike="noStrike">
              <a:solidFill>
                <a:schemeClr val="dk1"/>
              </a:solidFill>
              <a:latin typeface="Calibri"/>
              <a:ea typeface="Calibri"/>
              <a:cs typeface="Calibri"/>
              <a:sym typeface="Calibri"/>
            </a:endParaRPr>
          </a:p>
        </p:txBody>
      </p:sp>
      <p:sp>
        <p:nvSpPr>
          <p:cNvPr id="197" name="Google Shape;197;p20"/>
          <p:cNvSpPr/>
          <p:nvPr/>
        </p:nvSpPr>
        <p:spPr>
          <a:xfrm>
            <a:off x="548640" y="594360"/>
            <a:ext cx="5303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7F7"/>
              </a:buClr>
              <a:buSzPts val="2800"/>
              <a:buFont typeface="Orbitron"/>
              <a:buNone/>
            </a:pPr>
            <a:r>
              <a:rPr b="1" i="0" lang="en" sz="2800" u="none" cap="none" strike="noStrike">
                <a:solidFill>
                  <a:srgbClr val="F7F7F7"/>
                </a:solidFill>
                <a:latin typeface="Orbitron"/>
                <a:ea typeface="Orbitron"/>
                <a:cs typeface="Orbitron"/>
                <a:sym typeface="Orbitron"/>
              </a:rPr>
              <a:t>Lado Turmanidze</a:t>
            </a:r>
            <a:endParaRPr b="0" i="0" sz="2800" u="none" cap="none" strike="noStrike">
              <a:solidFill>
                <a:schemeClr val="dk1"/>
              </a:solidFill>
              <a:latin typeface="Calibri"/>
              <a:ea typeface="Calibri"/>
              <a:cs typeface="Calibri"/>
              <a:sym typeface="Calibri"/>
            </a:endParaRPr>
          </a:p>
        </p:txBody>
      </p:sp>
      <p:sp>
        <p:nvSpPr>
          <p:cNvPr id="198" name="Google Shape;198;p20"/>
          <p:cNvSpPr/>
          <p:nvPr/>
        </p:nvSpPr>
        <p:spPr>
          <a:xfrm>
            <a:off x="548640" y="1167443"/>
            <a:ext cx="5303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8C9"/>
              </a:buClr>
              <a:buSzPts val="1300"/>
              <a:buFont typeface="Sora"/>
              <a:buNone/>
            </a:pPr>
            <a:r>
              <a:rPr b="0" i="0" lang="en" sz="1300" u="none" cap="none" strike="noStrike">
                <a:solidFill>
                  <a:srgbClr val="43D8C9"/>
                </a:solidFill>
                <a:latin typeface="Sora"/>
                <a:ea typeface="Sora"/>
                <a:cs typeface="Sora"/>
                <a:sym typeface="Sora"/>
              </a:rPr>
              <a:t>Solo developer </a:t>
            </a:r>
            <a:r>
              <a:rPr lang="en" sz="1300">
                <a:solidFill>
                  <a:srgbClr val="43D8C9"/>
                </a:solidFill>
                <a:latin typeface="Sora"/>
                <a:ea typeface="Sora"/>
                <a:cs typeface="Sora"/>
                <a:sym typeface="Sora"/>
              </a:rPr>
              <a:t>-</a:t>
            </a:r>
            <a:r>
              <a:rPr b="0" i="0" lang="en" sz="1300" u="none" cap="none" strike="noStrike">
                <a:solidFill>
                  <a:srgbClr val="43D8C9"/>
                </a:solidFill>
                <a:latin typeface="Sora"/>
                <a:ea typeface="Sora"/>
                <a:cs typeface="Sora"/>
                <a:sym typeface="Sora"/>
              </a:rPr>
              <a:t> full stack, solo sprin</a:t>
            </a:r>
            <a:r>
              <a:rPr b="0" i="0" lang="en" sz="1300" u="none" cap="none" strike="noStrike">
                <a:solidFill>
                  <a:srgbClr val="43D8C9"/>
                </a:solidFill>
                <a:latin typeface="Sora"/>
                <a:ea typeface="Sora"/>
                <a:cs typeface="Sora"/>
                <a:sym typeface="Sora"/>
              </a:rPr>
              <a:t>t.</a:t>
            </a:r>
            <a:endParaRPr b="0" i="0" sz="1300" u="none" cap="none" strike="noStrike">
              <a:solidFill>
                <a:schemeClr val="dk1"/>
              </a:solidFill>
              <a:latin typeface="Calibri"/>
              <a:ea typeface="Calibri"/>
              <a:cs typeface="Calibri"/>
              <a:sym typeface="Calibri"/>
            </a:endParaRPr>
          </a:p>
        </p:txBody>
      </p:sp>
      <p:sp>
        <p:nvSpPr>
          <p:cNvPr id="199" name="Google Shape;199;p20"/>
          <p:cNvSpPr/>
          <p:nvPr/>
        </p:nvSpPr>
        <p:spPr>
          <a:xfrm>
            <a:off x="4960620" y="1554480"/>
            <a:ext cx="2834700" cy="3246000"/>
          </a:xfrm>
          <a:prstGeom prst="rect">
            <a:avLst/>
          </a:prstGeom>
          <a:solidFill>
            <a:srgbClr val="1A0505"/>
          </a:solidFill>
          <a:ln cap="flat" cmpd="sng" w="9525">
            <a:solidFill>
              <a:srgbClr val="95389E">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
          <p:cNvSpPr/>
          <p:nvPr/>
        </p:nvSpPr>
        <p:spPr>
          <a:xfrm>
            <a:off x="5005021" y="1719072"/>
            <a:ext cx="2560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D8C9"/>
              </a:buClr>
              <a:buSzPts val="1300"/>
              <a:buFont typeface="Orbitron"/>
              <a:buNone/>
            </a:pPr>
            <a:r>
              <a:rPr b="1" i="0" lang="en" sz="1200" u="none" cap="none" strike="noStrike">
                <a:solidFill>
                  <a:srgbClr val="43D8C9"/>
                </a:solidFill>
                <a:latin typeface="Orbitron"/>
                <a:ea typeface="Orbitron"/>
                <a:cs typeface="Orbitron"/>
                <a:sym typeface="Orbitron"/>
              </a:rPr>
              <a:t>Why solo?</a:t>
            </a:r>
            <a:endParaRPr b="0" i="0" sz="1200" u="none" cap="none" strike="noStrike">
              <a:solidFill>
                <a:schemeClr val="dk1"/>
              </a:solidFill>
              <a:latin typeface="Calibri"/>
              <a:ea typeface="Calibri"/>
              <a:cs typeface="Calibri"/>
              <a:sym typeface="Calibri"/>
            </a:endParaRPr>
          </a:p>
        </p:txBody>
      </p:sp>
      <p:sp>
        <p:nvSpPr>
          <p:cNvPr id="201" name="Google Shape;201;p20"/>
          <p:cNvSpPr/>
          <p:nvPr/>
        </p:nvSpPr>
        <p:spPr>
          <a:xfrm>
            <a:off x="1314720" y="1554468"/>
            <a:ext cx="2834700" cy="3246000"/>
          </a:xfrm>
          <a:prstGeom prst="rect">
            <a:avLst/>
          </a:prstGeom>
          <a:solidFill>
            <a:srgbClr val="1A0505"/>
          </a:solidFill>
          <a:ln cap="flat" cmpd="sng" w="9525">
            <a:solidFill>
              <a:srgbClr val="95389E">
                <a:alpha val="5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
          <p:cNvSpPr/>
          <p:nvPr/>
        </p:nvSpPr>
        <p:spPr>
          <a:xfrm>
            <a:off x="1438252" y="1719060"/>
            <a:ext cx="2560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D8C9"/>
              </a:buClr>
              <a:buSzPts val="1300"/>
              <a:buFont typeface="Orbitron"/>
              <a:buNone/>
            </a:pPr>
            <a:r>
              <a:rPr b="1" i="0" lang="en" sz="1200" u="none" cap="none" strike="noStrike">
                <a:solidFill>
                  <a:srgbClr val="43D8C9"/>
                </a:solidFill>
                <a:latin typeface="Orbitron"/>
                <a:ea typeface="Orbitron"/>
                <a:cs typeface="Orbitron"/>
                <a:sym typeface="Orbitron"/>
              </a:rPr>
              <a:t>Why this project?</a:t>
            </a:r>
            <a:endParaRPr b="0" i="0" sz="1200" u="none" cap="none" strike="noStrike">
              <a:solidFill>
                <a:schemeClr val="dk1"/>
              </a:solidFill>
              <a:latin typeface="Calibri"/>
              <a:ea typeface="Calibri"/>
              <a:cs typeface="Calibri"/>
              <a:sym typeface="Calibri"/>
            </a:endParaRPr>
          </a:p>
        </p:txBody>
      </p:sp>
      <p:sp>
        <p:nvSpPr>
          <p:cNvPr id="203" name="Google Shape;203;p20"/>
          <p:cNvSpPr txBox="1"/>
          <p:nvPr/>
        </p:nvSpPr>
        <p:spPr>
          <a:xfrm>
            <a:off x="1477815" y="2112385"/>
            <a:ext cx="2560200" cy="216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50">
                <a:solidFill>
                  <a:schemeClr val="lt1"/>
                </a:solidFill>
                <a:latin typeface="Sora"/>
                <a:ea typeface="Sora"/>
                <a:cs typeface="Sora"/>
                <a:sym typeface="Sora"/>
              </a:rPr>
              <a:t>I have over 500-day streaks on multiple platforms.I know this is addictive(which is good!),  but there needs to be a mechanism of verification.</a:t>
            </a:r>
            <a:endParaRPr sz="950">
              <a:solidFill>
                <a:schemeClr val="lt1"/>
              </a:solidFill>
              <a:latin typeface="Sora"/>
              <a:ea typeface="Sora"/>
              <a:cs typeface="Sora"/>
              <a:sym typeface="Sora"/>
            </a:endParaRPr>
          </a:p>
          <a:p>
            <a:pPr indent="0" lvl="0" marL="0" rtl="0" algn="l">
              <a:lnSpc>
                <a:spcPct val="115000"/>
              </a:lnSpc>
              <a:spcBef>
                <a:spcPts val="1200"/>
              </a:spcBef>
              <a:spcAft>
                <a:spcPts val="1200"/>
              </a:spcAft>
              <a:buClr>
                <a:schemeClr val="dk1"/>
              </a:buClr>
              <a:buSzPts val="1100"/>
              <a:buFont typeface="Arial"/>
              <a:buNone/>
            </a:pPr>
            <a:r>
              <a:rPr lang="en" sz="950">
                <a:solidFill>
                  <a:schemeClr val="lt1"/>
                </a:solidFill>
                <a:latin typeface="Sora"/>
                <a:ea typeface="Sora"/>
                <a:cs typeface="Sora"/>
                <a:sym typeface="Sora"/>
              </a:rPr>
              <a:t> I wanted to build a similar system for working out, and I noticed that no existing app combines both: real body pose estimation to verify movement, and a financial incentive to stay consistent.</a:t>
            </a:r>
            <a:endParaRPr>
              <a:solidFill>
                <a:schemeClr val="lt1"/>
              </a:solidFill>
            </a:endParaRPr>
          </a:p>
        </p:txBody>
      </p:sp>
      <p:sp>
        <p:nvSpPr>
          <p:cNvPr id="204" name="Google Shape;204;p20"/>
          <p:cNvSpPr txBox="1"/>
          <p:nvPr/>
        </p:nvSpPr>
        <p:spPr>
          <a:xfrm>
            <a:off x="5163287" y="2152004"/>
            <a:ext cx="2560200" cy="147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50">
                <a:solidFill>
                  <a:schemeClr val="lt1"/>
                </a:solidFill>
                <a:latin typeface="Sora"/>
                <a:ea typeface="Sora"/>
                <a:cs typeface="Sora"/>
                <a:sym typeface="Sora"/>
              </a:rPr>
              <a:t>Building it solo meant end-to-end ownership:</a:t>
            </a:r>
            <a:endParaRPr sz="950">
              <a:solidFill>
                <a:schemeClr val="lt1"/>
              </a:solidFill>
              <a:latin typeface="Sora"/>
              <a:ea typeface="Sora"/>
              <a:cs typeface="Sora"/>
              <a:sym typeface="Sora"/>
            </a:endParaRPr>
          </a:p>
          <a:p>
            <a:pPr indent="0" lvl="0" marL="0" rtl="0" algn="l">
              <a:lnSpc>
                <a:spcPct val="115000"/>
              </a:lnSpc>
              <a:spcBef>
                <a:spcPts val="1200"/>
              </a:spcBef>
              <a:spcAft>
                <a:spcPts val="0"/>
              </a:spcAft>
              <a:buNone/>
            </a:pPr>
            <a:r>
              <a:rPr lang="en" sz="950">
                <a:solidFill>
                  <a:schemeClr val="lt1"/>
                </a:solidFill>
                <a:latin typeface="Sora"/>
                <a:ea typeface="Sora"/>
                <a:cs typeface="Sora"/>
                <a:sym typeface="Sora"/>
              </a:rPr>
              <a:t> I can ship fast, debug deep, and iterate without coordination overhead.</a:t>
            </a:r>
            <a:endParaRPr sz="950">
              <a:solidFill>
                <a:schemeClr val="lt1"/>
              </a:solidFill>
              <a:latin typeface="Sora"/>
              <a:ea typeface="Sora"/>
              <a:cs typeface="Sora"/>
              <a:sym typeface="Sora"/>
            </a:endParaRPr>
          </a:p>
          <a:p>
            <a:pPr indent="0" lvl="0" marL="0" rtl="0" algn="l">
              <a:lnSpc>
                <a:spcPct val="115000"/>
              </a:lnSpc>
              <a:spcBef>
                <a:spcPts val="1200"/>
              </a:spcBef>
              <a:spcAft>
                <a:spcPts val="1200"/>
              </a:spcAft>
              <a:buNone/>
            </a:pPr>
            <a:r>
              <a:rPr lang="en" sz="950">
                <a:solidFill>
                  <a:schemeClr val="lt1"/>
                </a:solidFill>
                <a:latin typeface="Sora"/>
                <a:ea typeface="Sora"/>
                <a:cs typeface="Sora"/>
                <a:sym typeface="Sora"/>
              </a:rPr>
              <a:t>Plus, I knew it would be a fun challenge! (and I was right)</a:t>
            </a:r>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0303"/>
        </a:solidFill>
      </p:bgPr>
    </p:bg>
    <p:spTree>
      <p:nvGrpSpPr>
        <p:cNvPr id="209" name="Shape 209"/>
        <p:cNvGrpSpPr/>
        <p:nvPr/>
      </p:nvGrpSpPr>
      <p:grpSpPr>
        <a:xfrm>
          <a:off x="0" y="0"/>
          <a:ext cx="0" cy="0"/>
          <a:chOff x="0" y="0"/>
          <a:chExt cx="0" cy="0"/>
        </a:xfrm>
      </p:grpSpPr>
      <p:sp>
        <p:nvSpPr>
          <p:cNvPr id="210" name="Google Shape;210;p21"/>
          <p:cNvSpPr/>
          <p:nvPr/>
        </p:nvSpPr>
        <p:spPr>
          <a:xfrm>
            <a:off x="-1371600" y="-1097280"/>
            <a:ext cx="4114800" cy="4114800"/>
          </a:xfrm>
          <a:prstGeom prst="ellipse">
            <a:avLst/>
          </a:prstGeom>
          <a:solidFill>
            <a:srgbClr val="95389E">
              <a:alpha val="12941"/>
            </a:srgbClr>
          </a:solidFill>
          <a:ln cap="flat" cmpd="sng" w="12700">
            <a:solidFill>
              <a:srgbClr val="95389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1"/>
          <p:cNvSpPr/>
          <p:nvPr/>
        </p:nvSpPr>
        <p:spPr>
          <a:xfrm>
            <a:off x="6858000" y="2926080"/>
            <a:ext cx="3657600" cy="3657600"/>
          </a:xfrm>
          <a:prstGeom prst="ellipse">
            <a:avLst/>
          </a:prstGeom>
          <a:solidFill>
            <a:srgbClr val="43D8C9">
              <a:alpha val="12156"/>
            </a:srgbClr>
          </a:solidFill>
          <a:ln cap="flat" cmpd="sng" w="12700">
            <a:solidFill>
              <a:srgbClr val="43D8C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2" name="Google Shape;212;p21"/>
          <p:cNvCxnSpPr/>
          <p:nvPr/>
        </p:nvCxnSpPr>
        <p:spPr>
          <a:xfrm>
            <a:off x="0" y="0"/>
            <a:ext cx="0" cy="5143500"/>
          </a:xfrm>
          <a:prstGeom prst="straightConnector1">
            <a:avLst/>
          </a:prstGeom>
          <a:noFill/>
          <a:ln cap="flat" cmpd="sng" w="9525">
            <a:solidFill>
              <a:srgbClr val="F7F7F7">
                <a:alpha val="3921"/>
              </a:srgbClr>
            </a:solidFill>
            <a:prstDash val="solid"/>
            <a:round/>
            <a:headEnd len="sm" w="sm" type="none"/>
            <a:tailEnd len="sm" w="sm" type="none"/>
          </a:ln>
        </p:spPr>
      </p:cxnSp>
      <p:cxnSp>
        <p:nvCxnSpPr>
          <p:cNvPr id="213" name="Google Shape;213;p21"/>
          <p:cNvCxnSpPr/>
          <p:nvPr/>
        </p:nvCxnSpPr>
        <p:spPr>
          <a:xfrm>
            <a:off x="1828800" y="0"/>
            <a:ext cx="0" cy="5143500"/>
          </a:xfrm>
          <a:prstGeom prst="straightConnector1">
            <a:avLst/>
          </a:prstGeom>
          <a:noFill/>
          <a:ln cap="flat" cmpd="sng" w="9525">
            <a:solidFill>
              <a:srgbClr val="F7F7F7">
                <a:alpha val="3921"/>
              </a:srgbClr>
            </a:solidFill>
            <a:prstDash val="solid"/>
            <a:round/>
            <a:headEnd len="sm" w="sm" type="none"/>
            <a:tailEnd len="sm" w="sm" type="none"/>
          </a:ln>
        </p:spPr>
      </p:cxnSp>
      <p:cxnSp>
        <p:nvCxnSpPr>
          <p:cNvPr id="214" name="Google Shape;214;p21"/>
          <p:cNvCxnSpPr/>
          <p:nvPr/>
        </p:nvCxnSpPr>
        <p:spPr>
          <a:xfrm>
            <a:off x="3657600" y="0"/>
            <a:ext cx="0" cy="5143500"/>
          </a:xfrm>
          <a:prstGeom prst="straightConnector1">
            <a:avLst/>
          </a:prstGeom>
          <a:noFill/>
          <a:ln cap="flat" cmpd="sng" w="9525">
            <a:solidFill>
              <a:srgbClr val="F7F7F7">
                <a:alpha val="3921"/>
              </a:srgbClr>
            </a:solidFill>
            <a:prstDash val="solid"/>
            <a:round/>
            <a:headEnd len="sm" w="sm" type="none"/>
            <a:tailEnd len="sm" w="sm" type="none"/>
          </a:ln>
        </p:spPr>
      </p:cxnSp>
      <p:cxnSp>
        <p:nvCxnSpPr>
          <p:cNvPr id="215" name="Google Shape;215;p21"/>
          <p:cNvCxnSpPr/>
          <p:nvPr/>
        </p:nvCxnSpPr>
        <p:spPr>
          <a:xfrm>
            <a:off x="5486400" y="0"/>
            <a:ext cx="0" cy="5143500"/>
          </a:xfrm>
          <a:prstGeom prst="straightConnector1">
            <a:avLst/>
          </a:prstGeom>
          <a:noFill/>
          <a:ln cap="flat" cmpd="sng" w="9525">
            <a:solidFill>
              <a:srgbClr val="F7F7F7">
                <a:alpha val="3921"/>
              </a:srgbClr>
            </a:solidFill>
            <a:prstDash val="solid"/>
            <a:round/>
            <a:headEnd len="sm" w="sm" type="none"/>
            <a:tailEnd len="sm" w="sm" type="none"/>
          </a:ln>
        </p:spPr>
      </p:cxnSp>
      <p:cxnSp>
        <p:nvCxnSpPr>
          <p:cNvPr id="216" name="Google Shape;216;p21"/>
          <p:cNvCxnSpPr/>
          <p:nvPr/>
        </p:nvCxnSpPr>
        <p:spPr>
          <a:xfrm>
            <a:off x="7315200" y="0"/>
            <a:ext cx="0" cy="5143500"/>
          </a:xfrm>
          <a:prstGeom prst="straightConnector1">
            <a:avLst/>
          </a:prstGeom>
          <a:noFill/>
          <a:ln cap="flat" cmpd="sng" w="9525">
            <a:solidFill>
              <a:srgbClr val="F7F7F7">
                <a:alpha val="3921"/>
              </a:srgbClr>
            </a:solidFill>
            <a:prstDash val="solid"/>
            <a:round/>
            <a:headEnd len="sm" w="sm" type="none"/>
            <a:tailEnd len="sm" w="sm" type="none"/>
          </a:ln>
        </p:spPr>
      </p:cxnSp>
      <p:cxnSp>
        <p:nvCxnSpPr>
          <p:cNvPr id="217" name="Google Shape;217;p21"/>
          <p:cNvCxnSpPr/>
          <p:nvPr/>
        </p:nvCxnSpPr>
        <p:spPr>
          <a:xfrm>
            <a:off x="9144000" y="0"/>
            <a:ext cx="0" cy="5143500"/>
          </a:xfrm>
          <a:prstGeom prst="straightConnector1">
            <a:avLst/>
          </a:prstGeom>
          <a:noFill/>
          <a:ln cap="flat" cmpd="sng" w="9525">
            <a:solidFill>
              <a:srgbClr val="F7F7F7">
                <a:alpha val="3921"/>
              </a:srgbClr>
            </a:solidFill>
            <a:prstDash val="solid"/>
            <a:round/>
            <a:headEnd len="sm" w="sm" type="none"/>
            <a:tailEnd len="sm" w="sm" type="none"/>
          </a:ln>
        </p:spPr>
      </p:cxnSp>
      <p:sp>
        <p:nvSpPr>
          <p:cNvPr id="218" name="Google Shape;218;p21"/>
          <p:cNvSpPr/>
          <p:nvPr/>
        </p:nvSpPr>
        <p:spPr>
          <a:xfrm>
            <a:off x="914400" y="502920"/>
            <a:ext cx="7315200" cy="201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7F7"/>
              </a:buClr>
              <a:buSzPts val="3800"/>
              <a:buFont typeface="Orbitron"/>
              <a:buNone/>
            </a:pPr>
            <a:r>
              <a:rPr b="1" i="0" lang="en" sz="3800" u="none" cap="none" strike="noStrike">
                <a:solidFill>
                  <a:srgbClr val="F7F7F7"/>
                </a:solidFill>
                <a:latin typeface="Orbitron"/>
                <a:ea typeface="Orbitron"/>
                <a:cs typeface="Orbitron"/>
                <a:sym typeface="Orbitron"/>
              </a:rPr>
              <a:t>Prove Your Reps.</a:t>
            </a:r>
            <a:endParaRPr b="0" i="0" sz="3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7F7F7"/>
              </a:buClr>
              <a:buSzPts val="3800"/>
              <a:buFont typeface="Orbitron"/>
              <a:buNone/>
            </a:pPr>
            <a:r>
              <a:rPr b="1" i="0" lang="en" sz="3800" u="none" cap="none" strike="noStrike">
                <a:solidFill>
                  <a:srgbClr val="F7F7F7"/>
                </a:solidFill>
                <a:latin typeface="Orbitron"/>
                <a:ea typeface="Orbitron"/>
                <a:cs typeface="Orbitron"/>
                <a:sym typeface="Orbitron"/>
              </a:rPr>
              <a:t>Own Your Progress.</a:t>
            </a:r>
            <a:endParaRPr b="0" i="0" sz="3800" u="none" cap="none" strike="noStrike">
              <a:solidFill>
                <a:schemeClr val="dk1"/>
              </a:solidFill>
              <a:latin typeface="Calibri"/>
              <a:ea typeface="Calibri"/>
              <a:cs typeface="Calibri"/>
              <a:sym typeface="Calibri"/>
            </a:endParaRPr>
          </a:p>
        </p:txBody>
      </p:sp>
      <p:cxnSp>
        <p:nvCxnSpPr>
          <p:cNvPr id="219" name="Google Shape;219;p21"/>
          <p:cNvCxnSpPr/>
          <p:nvPr/>
        </p:nvCxnSpPr>
        <p:spPr>
          <a:xfrm>
            <a:off x="2286000" y="2560320"/>
            <a:ext cx="4572000" cy="0"/>
          </a:xfrm>
          <a:prstGeom prst="straightConnector1">
            <a:avLst/>
          </a:prstGeom>
          <a:noFill/>
          <a:ln cap="flat" cmpd="sng" w="12700">
            <a:solidFill>
              <a:srgbClr val="43D8C9">
                <a:alpha val="60000"/>
              </a:srgbClr>
            </a:solidFill>
            <a:prstDash val="solid"/>
            <a:round/>
            <a:headEnd len="sm" w="sm" type="none"/>
            <a:tailEnd len="sm" w="sm" type="none"/>
          </a:ln>
        </p:spPr>
      </p:cxnSp>
      <p:sp>
        <p:nvSpPr>
          <p:cNvPr id="220" name="Google Shape;220;p21"/>
          <p:cNvSpPr/>
          <p:nvPr/>
        </p:nvSpPr>
        <p:spPr>
          <a:xfrm>
            <a:off x="1188720" y="2697480"/>
            <a:ext cx="21031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D8C9"/>
              </a:buClr>
              <a:buSzPts val="4000"/>
              <a:buFont typeface="Orbitron"/>
              <a:buNone/>
            </a:pPr>
            <a:r>
              <a:rPr b="1" i="0" lang="en" sz="4000" u="none" cap="none" strike="noStrike">
                <a:solidFill>
                  <a:srgbClr val="43D8C9"/>
                </a:solidFill>
                <a:latin typeface="Orbitron"/>
                <a:ea typeface="Orbitron"/>
                <a:cs typeface="Orbitron"/>
                <a:sym typeface="Orbitron"/>
              </a:rPr>
              <a:t>5</a:t>
            </a:r>
            <a:endParaRPr b="0" i="0" sz="4000" u="none" cap="none" strike="noStrike">
              <a:solidFill>
                <a:schemeClr val="dk1"/>
              </a:solidFill>
              <a:latin typeface="Calibri"/>
              <a:ea typeface="Calibri"/>
              <a:cs typeface="Calibri"/>
              <a:sym typeface="Calibri"/>
            </a:endParaRPr>
          </a:p>
        </p:txBody>
      </p:sp>
      <p:sp>
        <p:nvSpPr>
          <p:cNvPr id="221" name="Google Shape;221;p21"/>
          <p:cNvSpPr/>
          <p:nvPr/>
        </p:nvSpPr>
        <p:spPr>
          <a:xfrm>
            <a:off x="1188720" y="3364992"/>
            <a:ext cx="2103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7F7"/>
              </a:buClr>
              <a:buSzPts val="1000"/>
              <a:buFont typeface="Orbitron"/>
              <a:buNone/>
            </a:pPr>
            <a:r>
              <a:rPr b="1" i="0" lang="en" sz="1000" u="none" cap="none" strike="noStrike">
                <a:solidFill>
                  <a:srgbClr val="F7F7F7"/>
                </a:solidFill>
                <a:latin typeface="Orbitron"/>
                <a:ea typeface="Orbitron"/>
                <a:cs typeface="Orbitron"/>
                <a:sym typeface="Orbitron"/>
              </a:rPr>
              <a:t>Exercises</a:t>
            </a:r>
            <a:endParaRPr b="0" i="0" sz="1000" u="none" cap="none" strike="noStrike">
              <a:solidFill>
                <a:schemeClr val="dk1"/>
              </a:solidFill>
              <a:latin typeface="Calibri"/>
              <a:ea typeface="Calibri"/>
              <a:cs typeface="Calibri"/>
              <a:sym typeface="Calibri"/>
            </a:endParaRPr>
          </a:p>
        </p:txBody>
      </p:sp>
      <p:sp>
        <p:nvSpPr>
          <p:cNvPr id="222" name="Google Shape;222;p21"/>
          <p:cNvSpPr/>
          <p:nvPr/>
        </p:nvSpPr>
        <p:spPr>
          <a:xfrm>
            <a:off x="1188720" y="3639312"/>
            <a:ext cx="21031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7F7"/>
              </a:buClr>
              <a:buSzPts val="900"/>
              <a:buFont typeface="Sora"/>
              <a:buNone/>
            </a:pPr>
            <a:r>
              <a:rPr b="0" i="0" lang="en" sz="900" u="none" cap="none" strike="noStrike">
                <a:solidFill>
                  <a:srgbClr val="F7F7F7"/>
                </a:solidFill>
                <a:latin typeface="Sora"/>
                <a:ea typeface="Sora"/>
                <a:cs typeface="Sora"/>
                <a:sym typeface="Sora"/>
              </a:rPr>
              <a:t>CV-verified</a:t>
            </a:r>
            <a:endParaRPr b="0" i="0" sz="900" u="none" cap="none" strike="noStrike">
              <a:solidFill>
                <a:schemeClr val="dk1"/>
              </a:solidFill>
              <a:latin typeface="Calibri"/>
              <a:ea typeface="Calibri"/>
              <a:cs typeface="Calibri"/>
              <a:sym typeface="Calibri"/>
            </a:endParaRPr>
          </a:p>
        </p:txBody>
      </p:sp>
      <p:sp>
        <p:nvSpPr>
          <p:cNvPr id="223" name="Google Shape;223;p21"/>
          <p:cNvSpPr/>
          <p:nvPr/>
        </p:nvSpPr>
        <p:spPr>
          <a:xfrm>
            <a:off x="3566160" y="2697480"/>
            <a:ext cx="21031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D8C9"/>
              </a:buClr>
              <a:buSzPts val="4000"/>
              <a:buFont typeface="Orbitron"/>
              <a:buNone/>
            </a:pPr>
            <a:r>
              <a:rPr b="1" i="0" lang="en" sz="4000" u="none" cap="none" strike="noStrike">
                <a:solidFill>
                  <a:srgbClr val="43D8C9"/>
                </a:solidFill>
                <a:latin typeface="Orbitron"/>
                <a:ea typeface="Orbitron"/>
                <a:cs typeface="Orbitron"/>
                <a:sym typeface="Orbitron"/>
              </a:rPr>
              <a:t>65k</a:t>
            </a:r>
            <a:endParaRPr b="0" i="0" sz="4000" u="none" cap="none" strike="noStrike">
              <a:solidFill>
                <a:schemeClr val="dk1"/>
              </a:solidFill>
              <a:latin typeface="Calibri"/>
              <a:ea typeface="Calibri"/>
              <a:cs typeface="Calibri"/>
              <a:sym typeface="Calibri"/>
            </a:endParaRPr>
          </a:p>
        </p:txBody>
      </p:sp>
      <p:sp>
        <p:nvSpPr>
          <p:cNvPr id="224" name="Google Shape;224;p21"/>
          <p:cNvSpPr/>
          <p:nvPr/>
        </p:nvSpPr>
        <p:spPr>
          <a:xfrm>
            <a:off x="3566160" y="3364992"/>
            <a:ext cx="2103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7F7"/>
              </a:buClr>
              <a:buSzPts val="1000"/>
              <a:buFont typeface="Orbitron"/>
              <a:buNone/>
            </a:pPr>
            <a:r>
              <a:rPr b="1" i="0" lang="en" sz="1000" u="none" cap="none" strike="noStrike">
                <a:solidFill>
                  <a:srgbClr val="F7F7F7"/>
                </a:solidFill>
                <a:latin typeface="Orbitron"/>
                <a:ea typeface="Orbitron"/>
                <a:cs typeface="Orbitron"/>
                <a:sym typeface="Orbitron"/>
              </a:rPr>
              <a:t>TPS</a:t>
            </a:r>
            <a:endParaRPr b="0" i="0" sz="1000" u="none" cap="none" strike="noStrike">
              <a:solidFill>
                <a:schemeClr val="dk1"/>
              </a:solidFill>
              <a:latin typeface="Calibri"/>
              <a:ea typeface="Calibri"/>
              <a:cs typeface="Calibri"/>
              <a:sym typeface="Calibri"/>
            </a:endParaRPr>
          </a:p>
        </p:txBody>
      </p:sp>
      <p:sp>
        <p:nvSpPr>
          <p:cNvPr id="225" name="Google Shape;225;p21"/>
          <p:cNvSpPr/>
          <p:nvPr/>
        </p:nvSpPr>
        <p:spPr>
          <a:xfrm>
            <a:off x="3566160" y="3639312"/>
            <a:ext cx="21031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7F7"/>
              </a:buClr>
              <a:buSzPts val="900"/>
              <a:buFont typeface="Sora"/>
              <a:buNone/>
            </a:pPr>
            <a:r>
              <a:rPr lang="en" sz="900">
                <a:solidFill>
                  <a:srgbClr val="F7F7F7"/>
                </a:solidFill>
                <a:latin typeface="Sora"/>
                <a:ea typeface="Sora"/>
                <a:cs typeface="Sora"/>
                <a:sym typeface="Sora"/>
              </a:rPr>
              <a:t>No extra wait time</a:t>
            </a:r>
            <a:endParaRPr b="0" i="0" sz="900" u="none" cap="none" strike="noStrike">
              <a:solidFill>
                <a:schemeClr val="dk1"/>
              </a:solidFill>
              <a:latin typeface="Calibri"/>
              <a:ea typeface="Calibri"/>
              <a:cs typeface="Calibri"/>
              <a:sym typeface="Calibri"/>
            </a:endParaRPr>
          </a:p>
        </p:txBody>
      </p:sp>
      <p:sp>
        <p:nvSpPr>
          <p:cNvPr id="226" name="Google Shape;226;p21"/>
          <p:cNvSpPr/>
          <p:nvPr/>
        </p:nvSpPr>
        <p:spPr>
          <a:xfrm>
            <a:off x="5943600" y="2697480"/>
            <a:ext cx="21031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D8C9"/>
              </a:buClr>
              <a:buSzPts val="4000"/>
              <a:buFont typeface="Orbitron"/>
              <a:buNone/>
            </a:pPr>
            <a:r>
              <a:rPr b="1" i="0" lang="en" sz="4000" u="none" cap="none" strike="noStrike">
                <a:solidFill>
                  <a:srgbClr val="43D8C9"/>
                </a:solidFill>
                <a:latin typeface="Orbitron"/>
                <a:ea typeface="Orbitron"/>
                <a:cs typeface="Orbitron"/>
                <a:sym typeface="Orbitron"/>
              </a:rPr>
              <a:t>1</a:t>
            </a:r>
            <a:r>
              <a:rPr b="1" lang="en" sz="4000">
                <a:solidFill>
                  <a:srgbClr val="43D8C9"/>
                </a:solidFill>
                <a:latin typeface="Orbitron"/>
                <a:ea typeface="Orbitron"/>
                <a:cs typeface="Orbitron"/>
                <a:sym typeface="Orbitron"/>
              </a:rPr>
              <a:t>5</a:t>
            </a:r>
            <a:r>
              <a:rPr b="1" i="0" lang="en" sz="4000" u="none" cap="none" strike="noStrike">
                <a:solidFill>
                  <a:srgbClr val="43D8C9"/>
                </a:solidFill>
                <a:latin typeface="Orbitron"/>
                <a:ea typeface="Orbitron"/>
                <a:cs typeface="Orbitron"/>
                <a:sym typeface="Orbitron"/>
              </a:rPr>
              <a:t>%</a:t>
            </a:r>
            <a:endParaRPr b="0" i="0" sz="4000" u="none" cap="none" strike="noStrike">
              <a:solidFill>
                <a:schemeClr val="dk1"/>
              </a:solidFill>
              <a:latin typeface="Calibri"/>
              <a:ea typeface="Calibri"/>
              <a:cs typeface="Calibri"/>
              <a:sym typeface="Calibri"/>
            </a:endParaRPr>
          </a:p>
        </p:txBody>
      </p:sp>
      <p:sp>
        <p:nvSpPr>
          <p:cNvPr id="227" name="Google Shape;227;p21"/>
          <p:cNvSpPr/>
          <p:nvPr/>
        </p:nvSpPr>
        <p:spPr>
          <a:xfrm>
            <a:off x="5943600" y="3364992"/>
            <a:ext cx="2103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7F7"/>
              </a:buClr>
              <a:buSzPts val="1000"/>
              <a:buFont typeface="Orbitron"/>
              <a:buNone/>
            </a:pPr>
            <a:r>
              <a:rPr b="1" i="0" lang="en" sz="1000" u="none" cap="none" strike="noStrike">
                <a:solidFill>
                  <a:srgbClr val="F7F7F7"/>
                </a:solidFill>
                <a:latin typeface="Orbitron"/>
                <a:ea typeface="Orbitron"/>
                <a:cs typeface="Orbitron"/>
                <a:sym typeface="Orbitron"/>
              </a:rPr>
              <a:t>Protocol fee</a:t>
            </a:r>
            <a:endParaRPr b="0" i="0" sz="1000" u="none" cap="none" strike="noStrike">
              <a:solidFill>
                <a:schemeClr val="dk1"/>
              </a:solidFill>
              <a:latin typeface="Calibri"/>
              <a:ea typeface="Calibri"/>
              <a:cs typeface="Calibri"/>
              <a:sym typeface="Calibri"/>
            </a:endParaRPr>
          </a:p>
        </p:txBody>
      </p:sp>
      <p:sp>
        <p:nvSpPr>
          <p:cNvPr id="228" name="Google Shape;228;p21"/>
          <p:cNvSpPr/>
          <p:nvPr/>
        </p:nvSpPr>
        <p:spPr>
          <a:xfrm>
            <a:off x="5943600" y="3639312"/>
            <a:ext cx="21031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7F7"/>
              </a:buClr>
              <a:buSzPts val="900"/>
              <a:buFont typeface="Sora"/>
              <a:buNone/>
            </a:pPr>
            <a:r>
              <a:rPr b="0" i="0" lang="en" sz="900" u="none" cap="none" strike="noStrike">
                <a:solidFill>
                  <a:srgbClr val="F7F7F7"/>
                </a:solidFill>
                <a:latin typeface="Sora"/>
                <a:ea typeface="Sora"/>
                <a:cs typeface="Sora"/>
                <a:sym typeface="Sora"/>
              </a:rPr>
              <a:t>Prize pool cut</a:t>
            </a:r>
            <a:endParaRPr b="0" i="0" sz="900" u="none" cap="none" strike="noStrike">
              <a:solidFill>
                <a:schemeClr val="dk1"/>
              </a:solidFill>
              <a:latin typeface="Calibri"/>
              <a:ea typeface="Calibri"/>
              <a:cs typeface="Calibri"/>
              <a:sym typeface="Calibri"/>
            </a:endParaRPr>
          </a:p>
        </p:txBody>
      </p:sp>
      <p:sp>
        <p:nvSpPr>
          <p:cNvPr id="229" name="Google Shape;229;p21"/>
          <p:cNvSpPr/>
          <p:nvPr/>
        </p:nvSpPr>
        <p:spPr>
          <a:xfrm>
            <a:off x="731520" y="4023360"/>
            <a:ext cx="76809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D8C9"/>
              </a:buClr>
              <a:buSzPts val="750"/>
              <a:buFont typeface="Sora"/>
              <a:buNone/>
            </a:pPr>
            <a:r>
              <a:rPr b="0" i="0" lang="en" sz="750" u="none" cap="none" strike="noStrike">
                <a:solidFill>
                  <a:srgbClr val="43D8C9"/>
                </a:solidFill>
                <a:latin typeface="Sora"/>
                <a:ea typeface="Sora"/>
                <a:cs typeface="Sora"/>
                <a:sym typeface="Sora"/>
              </a:rPr>
              <a:t>BWJXEiNyQv9h2f9Aq9HCw8NyvSbYitJ7ChyUhkR887o5</a:t>
            </a:r>
            <a:endParaRPr b="0" i="0" sz="750" u="none" cap="none" strike="noStrike">
              <a:solidFill>
                <a:schemeClr val="dk1"/>
              </a:solidFill>
              <a:latin typeface="Calibri"/>
              <a:ea typeface="Calibri"/>
              <a:cs typeface="Calibri"/>
              <a:sym typeface="Calibri"/>
            </a:endParaRPr>
          </a:p>
        </p:txBody>
      </p:sp>
      <p:sp>
        <p:nvSpPr>
          <p:cNvPr id="230" name="Google Shape;230;p21"/>
          <p:cNvSpPr/>
          <p:nvPr/>
        </p:nvSpPr>
        <p:spPr>
          <a:xfrm>
            <a:off x="914400" y="4279392"/>
            <a:ext cx="7315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F7F7"/>
              </a:buClr>
              <a:buSzPts val="750"/>
              <a:buFont typeface="Sora"/>
              <a:buNone/>
            </a:pPr>
            <a:r>
              <a:rPr b="0" i="0" lang="en" sz="750" u="none" cap="none" strike="noStrike">
                <a:solidFill>
                  <a:srgbClr val="F7F7F7"/>
                </a:solidFill>
                <a:latin typeface="Sora"/>
                <a:ea typeface="Sora"/>
                <a:cs typeface="Sora"/>
                <a:sym typeface="Sora"/>
              </a:rPr>
              <a:t>Program ID </a:t>
            </a:r>
            <a:r>
              <a:rPr lang="en" sz="750">
                <a:solidFill>
                  <a:srgbClr val="F7F7F7"/>
                </a:solidFill>
                <a:latin typeface="Sora"/>
                <a:ea typeface="Sora"/>
                <a:cs typeface="Sora"/>
                <a:sym typeface="Sora"/>
              </a:rPr>
              <a:t>-</a:t>
            </a:r>
            <a:r>
              <a:rPr b="0" i="0" lang="en" sz="750" u="none" cap="none" strike="noStrike">
                <a:solidFill>
                  <a:srgbClr val="F7F7F7"/>
                </a:solidFill>
                <a:latin typeface="Sora"/>
                <a:ea typeface="Sora"/>
                <a:cs typeface="Sora"/>
                <a:sym typeface="Sora"/>
              </a:rPr>
              <a:t> Solana Devnet</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